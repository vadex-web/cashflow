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87a99298-e464-7061-509c-7fcf66e2a7f5}">
          <p14:sldIdLst>
            <p14:sldId id="256"/>
          </p14:sldIdLst>
        </p14:section>
        <p14:section name="Проблема и решение" id="{be7265e6-2046-0d09-4a93-d77c332397a0}">
          <p14:sldIdLst>
            <p14:sldId id="257"/>
            <p14:sldId id="258"/>
          </p14:sldIdLst>
        </p14:section>
        <p14:section name="Демо" id="{7c1fa5e9-6669-ab11-7a38-10e484dd89fd}">
          <p14:sldIdLst>
            <p14:sldId id="259"/>
            <p14:sldId id="260"/>
          </p14:sldIdLst>
        </p14:section>
        <p14:section name="Данные и подход" id="{10213b8c-9d4c-e8a1-c2ff-e22ca0b654e2}">
          <p14:sldIdLst>
            <p14:sldId id="261"/>
            <p14:sldId id="262"/>
            <p14:sldId id="263"/>
          </p14:sldIdLst>
        </p14:section>
        <p14:section name="Архитектура" id="{8438b6c8-cc41-2718-7156-8b5dc11ddd73}">
          <p14:sldIdLst>
            <p14:sldId id="264"/>
          </p14:sldIdLst>
        </p14:section>
        <p14:section name="Итоги" id="{e7aba5e4-c73b-bddf-46c8-18293ee7dadf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324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3241C"/>
                </a:solidFill>
                <a:latin typeface="+mn-lt"/>
              </a:rPr>
              <a:t>Ошибка остатка на 30 дней, млн ₽ (демо-компания S02)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Ошибка прогноза, млн ₽</c:v>
                </c:pt>
              </c:strCache>
            </c:strRef>
          </c:tx>
          <c:spPr>
            <a:solidFill>
              <a:srgbClr val="7A8A8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4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1553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1553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DC63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Только выписка</c:v>
                  </c:pt>
                  <c:pt idx="1">
                    <c:v>+ налоговый календарь</c:v>
                  </c:pt>
                  <c:pt idx="2">
                    <c:v>+ 1С</c:v>
                  </c:pt>
                  <c:pt idx="3">
                    <c:v>+ открытые реестры</c:v>
                  </c:pt>
                  <c:pt idx="4">
                    <c:v>+ 1С + реестры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1.8</c:v>
                </c:pt>
                <c:pt idx="1">
                  <c:v>1.67</c:v>
                </c:pt>
                <c:pt idx="2">
                  <c:v>1.27</c:v>
                </c:pt>
                <c:pt idx="3">
                  <c:v>0.78</c:v>
                </c:pt>
                <c:pt idx="4">
                  <c:v>0.51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324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B5D5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324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3241C"/>
                </a:solidFill>
                <a:latin typeface="+mn-lt"/>
              </a:rPr>
              <a:t>Ошибка остатка на 30 дней, % месячного оборота (меньше — лучше)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Ошибка остатка, % оборота</c:v>
                </c:pt>
              </c:strCache>
            </c:strRef>
          </c:tx>
          <c:spPr>
            <a:solidFill>
              <a:srgbClr val="7A8A8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324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A8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1553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Наивная (повтор 28 дней)</c:v>
                  </c:pt>
                  <c:pt idx="1">
                    <c:v>Сезонная (ETS)</c:v>
                  </c:pt>
                  <c:pt idx="2">
                    <c:v>Наш гибрид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</c:v>
                </c:pt>
                <c:pt idx="1">
                  <c:v>19</c:v>
                </c:pt>
                <c:pt idx="2">
                  <c:v>16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324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D5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(10 с): Малый бизнес часто закрывается не из-за убытков, а потому что в нужный день на счёте нет денег. Мы сделали сервис, который за две недели говорит: когда не хватит, сколько и что сделать.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(25 с): Это реальная выписка из датасета организаторов. IT-компания, прибыльная. 16 сентября на счёте 2,9 миллиона. В конце месяца налог и зарплата, клиент платит только 3 октября — и 1 октября на счёте минус 471 тысяча, банк берёт проценты за овердрафт.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Цель кейса — прогноз остатка по дням на 30+ дней, разрыв с датой, суммой и вероятностью, понятно человеку без финансового образования. Всё это — на главном экране.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Оператор (60 с): Нажимаем «Посмотреть демо», загружаем выписку этой компании по 16 сентября — будущего сервис не видит. Подключаем налоговый календарь. Главная: через 14 дней, 30 сентября, может не хватить 678 тысяч, вероятность 98%, и первое действие. Ведущий: на самом деле разрыв случился ровно 30 сентября, минус 472 тысячи. Сумму мы назвали больше: налог оценили выше факта.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Оператор (40 с): «Что если»: клиент заплатит на три недели позже — нехватка вырастает до 1,47 миллиона. Платежи и источники: подключаем налоговый календарь, добавляем платёж обычной фразой — прогноз на главной меняется сразу.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(25 с): Источники: api/reports/sources_effect.md — прогноз на 30 дней сравнивается с «как было на самом деле». 1С и банк в прототипе — загрузка выгрузок (в демо тестовые файлы), реестры — демонстрационная проверка по ИНН, налоговый календарь считается по выписке.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Модель объяснимая: каждая сумма в причине подписана источником. Прогноз детерминированный, работает без сети, на 150 компаниях — около 30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(25 с): Источник: core/reports/metrics.md, перепроверено запуском cashflow_core.evaluate. Точность предупреждений о разрыве — 46%: каждое второе предупреждение ложное, но пропущенный разрыв для владельца дороже.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Три части по общему контракту. Прототип открыт по HTTPS, демо — в один клик, у каждого гостя своя копия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(20 с): Все звёздочки на слайде работают в прототипе — их можно проверить по ссылке. Дальше — встроить в интернет-банк: выписка у банка уже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(10 с): Спасибо! Прототип открыт по ссылке — нажмите «Посмотреть демо».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2D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Денежный прогноз · хакатон Банка Центр-Инвест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mark"/>
          <p:cNvSpPr/>
          <p:nvPr/>
        </p:nvSpPr>
        <p:spPr>
          <a:xfrm>
            <a:off x="548640" y="640080"/>
            <a:ext cx="566928" cy="566928"/>
          </a:xfrm>
          <a:prstGeom prst="roundRect">
            <a:avLst>
              <a:gd name="adj" fmla="val 19355"/>
            </a:avLst>
          </a:prstGeom>
          <a:solidFill>
            <a:schemeClr val="accent1"/>
          </a:solidFill>
          <a:ln/>
        </p:spPr>
      </p:sp>
      <p:sp>
        <p:nvSpPr>
          <p:cNvPr id="3" name="logo glyph"/>
          <p:cNvSpPr txBox="1"/>
          <p:nvPr/>
        </p:nvSpPr>
        <p:spPr>
          <a:xfrm>
            <a:off x="548640" y="640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₽</a:t>
            </a:r>
            <a:endParaRPr lang="en-US" sz="2600" dirty="0"/>
          </a:p>
        </p:txBody>
      </p:sp>
      <p:sp>
        <p:nvSpPr>
          <p:cNvPr id="4" name="event"/>
          <p:cNvSpPr txBox="1"/>
          <p:nvPr/>
        </p:nvSpPr>
        <p:spPr>
          <a:xfrm>
            <a:off x="1280160" y="685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7B5"/>
                </a:solidFill>
              </a:rPr>
              <a:t>Хакатон Банка Центр-Инвест</a:t>
            </a:r>
            <a:endParaRPr lang="en-US" sz="1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Денежный прогноз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2D6"/>
                </a:solidFill>
              </a:rPr>
              <a:t>Предупреждаем предпринимателя о кассовом разрыве за 2 недели — и подсказываем, что сделать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Прибыльный бизнес, а на счёте −471 600 ₽</a:t>
            </a:r>
            <a:endParaRPr lang="en-US" sz="2600" dirty="0"/>
          </a:p>
        </p:txBody>
      </p:sp>
      <p:sp>
        <p:nvSpPr>
          <p:cNvPr id="3" name="persona card"/>
          <p:cNvSpPr/>
          <p:nvPr/>
        </p:nvSpPr>
        <p:spPr>
          <a:xfrm>
            <a:off x="457200" y="1097280"/>
            <a:ext cx="4023360" cy="352044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/>
        </p:spPr>
      </p:sp>
      <p:sp>
        <p:nvSpPr>
          <p:cNvPr id="4" name="persona circle"/>
          <p:cNvSpPr/>
          <p:nvPr/>
        </p:nvSpPr>
        <p:spPr>
          <a:xfrm>
            <a:off x="731520" y="13258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person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63040"/>
            <a:ext cx="274320" cy="274320"/>
          </a:xfrm>
          <a:prstGeom prst="rect">
            <a:avLst/>
          </a:prstGeom>
        </p:spPr>
      </p:pic>
      <p:sp>
        <p:nvSpPr>
          <p:cNvPr id="6" name="persona name"/>
          <p:cNvSpPr txBox="1"/>
          <p:nvPr/>
        </p:nvSpPr>
        <p:spPr>
          <a:xfrm>
            <a:off x="1417320" y="1325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ООО «Софт-Решения-771»</a:t>
            </a:r>
            <a:endParaRPr lang="en-US" sz="1400" dirty="0"/>
          </a:p>
        </p:txBody>
      </p:sp>
      <p:sp>
        <p:nvSpPr>
          <p:cNvPr id="7" name="persona sub"/>
          <p:cNvSpPr txBox="1"/>
          <p:nvPr/>
        </p:nvSpPr>
        <p:spPr>
          <a:xfrm>
            <a:off x="1417320" y="1600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разработка ПО · реальная выписка из датасета (C124)</a:t>
            </a:r>
            <a:endParaRPr lang="en-US" sz="1100" dirty="0"/>
          </a:p>
        </p:txBody>
      </p:sp>
      <p:sp>
        <p:nvSpPr>
          <p:cNvPr id="8" name="persona facts"/>
          <p:cNvSpPr txBox="1"/>
          <p:nvPr/>
        </p:nvSpPr>
        <p:spPr>
          <a:xfrm>
            <a:off x="731520" y="210312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16 сентября на счёте 2,9 млн 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29.09 — ЕНП 1,48 млн ₽, 30.09 — зарплата 2,48 млн 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клиент заплатил 1,27 млн ₽ только 3 октября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итог — овердрафт и проценты банку</a:t>
            </a:r>
            <a:endParaRPr lang="en-US" sz="1400" dirty="0"/>
          </a:p>
        </p:txBody>
      </p:sp>
      <p:sp>
        <p:nvSpPr>
          <p:cNvPr id="9" name="user circle"/>
          <p:cNvSpPr/>
          <p:nvPr/>
        </p:nvSpPr>
        <p:spPr>
          <a:xfrm>
            <a:off x="4846320" y="11887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use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25880"/>
            <a:ext cx="274320" cy="274320"/>
          </a:xfrm>
          <a:prstGeom prst="rect">
            <a:avLst/>
          </a:prstGeom>
        </p:spPr>
      </p:pic>
      <p:sp>
        <p:nvSpPr>
          <p:cNvPr id="11" name="user title"/>
          <p:cNvSpPr txBox="1"/>
          <p:nvPr/>
        </p:nvSpPr>
        <p:spPr>
          <a:xfrm>
            <a:off x="553212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Наш пользователь</a:t>
            </a:r>
            <a:endParaRPr lang="en-US" sz="1500" dirty="0"/>
          </a:p>
        </p:txBody>
      </p:sp>
      <p:sp>
        <p:nvSpPr>
          <p:cNvPr id="12" name="user text"/>
          <p:cNvSpPr txBox="1"/>
          <p:nvPr/>
        </p:nvSpPr>
        <p:spPr>
          <a:xfrm>
            <a:off x="5532120" y="15087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владелец малого бизнеса без финансового образования: ему нужна не таблица, а ответ — хватит денег или нет</a:t>
            </a:r>
            <a:endParaRPr lang="en-US" sz="1200" dirty="0"/>
          </a:p>
        </p:txBody>
      </p:sp>
      <p:sp>
        <p:nvSpPr>
          <p:cNvPr id="13" name="pain circle"/>
          <p:cNvSpPr/>
          <p:nvPr/>
        </p:nvSpPr>
        <p:spPr>
          <a:xfrm>
            <a:off x="4846320" y="26060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pai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743200"/>
            <a:ext cx="274320" cy="274320"/>
          </a:xfrm>
          <a:prstGeom prst="rect">
            <a:avLst/>
          </a:prstGeom>
        </p:spPr>
      </p:pic>
      <p:sp>
        <p:nvSpPr>
          <p:cNvPr id="15" name="pain title"/>
          <p:cNvSpPr txBox="1"/>
          <p:nvPr/>
        </p:nvSpPr>
        <p:spPr>
          <a:xfrm>
            <a:off x="55321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Почему так бывает</a:t>
            </a:r>
            <a:endParaRPr lang="en-US" sz="1500" dirty="0"/>
          </a:p>
        </p:txBody>
      </p:sp>
      <p:sp>
        <p:nvSpPr>
          <p:cNvPr id="16" name="pain text"/>
          <p:cNvSpPr txBox="1"/>
          <p:nvPr/>
        </p:nvSpPr>
        <p:spPr>
          <a:xfrm>
            <a:off x="5532120" y="29260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зарплата, налоги и аренда — по графику, а клиенты платят, когда платят; выписка показывает прошлое, а разрыв видно только в день платежа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Три ответа на одном экране</a:t>
            </a:r>
            <a:endParaRPr lang="en-US" sz="2600" dirty="0"/>
          </a:p>
        </p:txBody>
      </p:sp>
      <p:sp>
        <p:nvSpPr>
          <p:cNvPr id="3" name="solution 0 circle"/>
          <p:cNvSpPr/>
          <p:nvPr/>
        </p:nvSpPr>
        <p:spPr>
          <a:xfrm>
            <a:off x="457200" y="11430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" name="solution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268730"/>
            <a:ext cx="251460" cy="251460"/>
          </a:xfrm>
          <a:prstGeom prst="rect">
            <a:avLst/>
          </a:prstGeom>
        </p:spPr>
      </p:pic>
      <p:sp>
        <p:nvSpPr>
          <p:cNvPr id="5" name="solution title 0"/>
          <p:cNvSpPr txBox="1"/>
          <p:nvPr/>
        </p:nvSpPr>
        <p:spPr>
          <a:xfrm>
            <a:off x="1097280" y="1143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Хватит ли денег</a:t>
            </a:r>
            <a:endParaRPr lang="en-US" sz="1600" dirty="0"/>
          </a:p>
        </p:txBody>
      </p:sp>
      <p:sp>
        <p:nvSpPr>
          <p:cNvPr id="6" name="solution text 0"/>
          <p:cNvSpPr txBox="1"/>
          <p:nvPr/>
        </p:nvSpPr>
        <p:spPr>
          <a:xfrm>
            <a:off x="1097280" y="1453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светофор и одна фраза: «через 14 дней, 30 сентября, может не хватить 678 000 ₽»</a:t>
            </a:r>
            <a:endParaRPr lang="en-US" sz="1200" dirty="0"/>
          </a:p>
        </p:txBody>
      </p:sp>
      <p:sp>
        <p:nvSpPr>
          <p:cNvPr id="7" name="solution 1 circle"/>
          <p:cNvSpPr/>
          <p:nvPr/>
        </p:nvSpPr>
        <p:spPr>
          <a:xfrm>
            <a:off x="457200" y="2286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olution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2411730"/>
            <a:ext cx="251460" cy="251460"/>
          </a:xfrm>
          <a:prstGeom prst="rect">
            <a:avLst/>
          </a:prstGeom>
        </p:spPr>
      </p:pic>
      <p:sp>
        <p:nvSpPr>
          <p:cNvPr id="9" name="solution title 1"/>
          <p:cNvSpPr txBox="1"/>
          <p:nvPr/>
        </p:nvSpPr>
        <p:spPr>
          <a:xfrm>
            <a:off x="109728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Когда и сколько</a:t>
            </a:r>
            <a:endParaRPr lang="en-US" sz="1600" dirty="0"/>
          </a:p>
        </p:txBody>
      </p:sp>
      <p:sp>
        <p:nvSpPr>
          <p:cNvPr id="10" name="solution text 1"/>
          <p:cNvSpPr txBox="1"/>
          <p:nvPr/>
        </p:nvSpPr>
        <p:spPr>
          <a:xfrm>
            <a:off x="1097280" y="2596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остаток по дням на 30+ дней: ожидаемый и возможный диапазон, дата, сумма и вероятность разрыва</a:t>
            </a:r>
            <a:endParaRPr lang="en-US" sz="1200" dirty="0"/>
          </a:p>
        </p:txBody>
      </p:sp>
      <p:sp>
        <p:nvSpPr>
          <p:cNvPr id="11" name="solution 2 circle"/>
          <p:cNvSpPr/>
          <p:nvPr/>
        </p:nvSpPr>
        <p:spPr>
          <a:xfrm>
            <a:off x="457200" y="3429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solution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3554730"/>
            <a:ext cx="251460" cy="251460"/>
          </a:xfrm>
          <a:prstGeom prst="rect">
            <a:avLst/>
          </a:prstGeom>
        </p:spPr>
      </p:pic>
      <p:sp>
        <p:nvSpPr>
          <p:cNvPr id="13" name="solution title 2"/>
          <p:cNvSpPr txBox="1"/>
          <p:nvPr/>
        </p:nvSpPr>
        <p:spPr>
          <a:xfrm>
            <a:off x="1097280" y="3429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делать</a:t>
            </a:r>
            <a:endParaRPr lang="en-US" sz="1600" dirty="0"/>
          </a:p>
        </p:txBody>
      </p:sp>
      <p:sp>
        <p:nvSpPr>
          <p:cNvPr id="14" name="solution text 2"/>
          <p:cNvSpPr txBox="1"/>
          <p:nvPr/>
        </p:nvSpPr>
        <p:spPr>
          <a:xfrm>
            <a:off x="1097280" y="3739896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конкретное действие: «попросите ООО «Ритейл-381» оплатить до 30 сентября»</a:t>
            </a:r>
            <a:endParaRPr lang="en-US" sz="1200" dirty="0"/>
          </a:p>
        </p:txBody>
      </p:sp>
      <p:sp>
        <p:nvSpPr>
          <p:cNvPr id="15" name="risk card screenshot frame"/>
          <p:cNvSpPr/>
          <p:nvPr/>
        </p:nvSpPr>
        <p:spPr>
          <a:xfrm>
            <a:off x="4160520" y="2148172"/>
            <a:ext cx="4526280" cy="1418656"/>
          </a:xfrm>
          <a:prstGeom prst="roundRect">
            <a:avLst>
              <a:gd name="adj" fmla="val 515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6" name="risk card screenshot" descr="/Users/alex/Documents/HAKATON/cashflow/docs/screens/03_preduprezhdeni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672" y="2221324"/>
            <a:ext cx="4379976" cy="12723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Демо: прогноз от 16 сентября против факта</a:t>
            </a:r>
            <a:endParaRPr lang="en-US" sz="2600" dirty="0"/>
          </a:p>
        </p:txBody>
      </p:sp>
      <p:sp>
        <p:nvSpPr>
          <p:cNvPr id="3" name="chart screenshot frame"/>
          <p:cNvSpPr/>
          <p:nvPr/>
        </p:nvSpPr>
        <p:spPr>
          <a:xfrm>
            <a:off x="457200" y="1213505"/>
            <a:ext cx="5120640" cy="3287990"/>
          </a:xfrm>
          <a:prstGeom prst="roundRect">
            <a:avLst>
              <a:gd name="adj" fmla="val 222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chart screenshot" descr="/Users/alex/Documents/HAKATON/cashflow/docs/screens/04_graf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286657"/>
            <a:ext cx="4974336" cy="3141686"/>
          </a:xfrm>
          <a:prstGeom prst="rect">
            <a:avLst/>
          </a:prstGeom>
        </p:spPr>
      </p:pic>
      <p:sp>
        <p:nvSpPr>
          <p:cNvPr id="5" name="fact value 0"/>
          <p:cNvSpPr txBox="1"/>
          <p:nvPr/>
        </p:nvSpPr>
        <p:spPr>
          <a:xfrm>
            <a:off x="5852160" y="1051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30 сентября</a:t>
            </a:r>
            <a:endParaRPr lang="en-US" sz="3000" dirty="0"/>
          </a:p>
        </p:txBody>
      </p:sp>
      <p:sp>
        <p:nvSpPr>
          <p:cNvPr id="6" name="fact label 0"/>
          <p:cNvSpPr txBox="1"/>
          <p:nvPr/>
        </p:nvSpPr>
        <p:spPr>
          <a:xfrm>
            <a:off x="5852160" y="16002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дата разрыва: прогноз = факт</a:t>
            </a:r>
            <a:endParaRPr lang="en-US" sz="1200" dirty="0"/>
          </a:p>
        </p:txBody>
      </p:sp>
      <p:sp>
        <p:nvSpPr>
          <p:cNvPr id="7" name="fact value 1"/>
          <p:cNvSpPr txBox="1"/>
          <p:nvPr/>
        </p:nvSpPr>
        <p:spPr>
          <a:xfrm>
            <a:off x="5852160" y="2240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98%</a:t>
            </a:r>
            <a:endParaRPr lang="en-US" sz="3000" dirty="0"/>
          </a:p>
        </p:txBody>
      </p:sp>
      <p:sp>
        <p:nvSpPr>
          <p:cNvPr id="8" name="fact label 1"/>
          <p:cNvSpPr txBox="1"/>
          <p:nvPr/>
        </p:nvSpPr>
        <p:spPr>
          <a:xfrm>
            <a:off x="5852160" y="2788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вероятность — за 14 дней; за 10 и 7 дней — 97%</a:t>
            </a:r>
            <a:endParaRPr lang="en-US" sz="1200" dirty="0"/>
          </a:p>
        </p:txBody>
      </p:sp>
      <p:sp>
        <p:nvSpPr>
          <p:cNvPr id="9" name="fact value 2"/>
          <p:cNvSpPr txBox="1"/>
          <p:nvPr/>
        </p:nvSpPr>
        <p:spPr>
          <a:xfrm>
            <a:off x="5852160" y="3429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−678 тыс. ₽</a:t>
            </a:r>
            <a:endParaRPr lang="en-US" sz="3000" dirty="0"/>
          </a:p>
        </p:txBody>
      </p:sp>
      <p:sp>
        <p:nvSpPr>
          <p:cNvPr id="10" name="fact label 2"/>
          <p:cNvSpPr txBox="1"/>
          <p:nvPr/>
        </p:nvSpPr>
        <p:spPr>
          <a:xfrm>
            <a:off x="5852160" y="3977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ожидаемый остаток; на деле −472 тыс. ₽ — налог сервис оценил выше факта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«Что если» и источники: прогноз меняется сразу</a:t>
            </a:r>
            <a:endParaRPr lang="en-US" sz="2600" dirty="0"/>
          </a:p>
        </p:txBody>
      </p:sp>
      <p:sp>
        <p:nvSpPr>
          <p:cNvPr id="3" name="scenario screenshot frame"/>
          <p:cNvSpPr/>
          <p:nvPr/>
        </p:nvSpPr>
        <p:spPr>
          <a:xfrm>
            <a:off x="457200" y="1011974"/>
            <a:ext cx="4663440" cy="2730933"/>
          </a:xfrm>
          <a:prstGeom prst="roundRect">
            <a:avLst>
              <a:gd name="adj" fmla="val 26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enario screenshot" descr="/Users/alex/Documents/HAKATON/cashflow/docs/screens/06_chto_es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085126"/>
            <a:ext cx="4517136" cy="2584629"/>
          </a:xfrm>
          <a:prstGeom prst="rect">
            <a:avLst/>
          </a:prstGeom>
        </p:spPr>
      </p:pic>
      <p:sp>
        <p:nvSpPr>
          <p:cNvPr id="5" name="scenario note"/>
          <p:cNvSpPr txBox="1"/>
          <p:nvPr/>
        </p:nvSpPr>
        <p:spPr>
          <a:xfrm>
            <a:off x="457200" y="38404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Клиент заплатит на 3 недели позже → «не хватит уже 1 473 000 ₽ вместо 678 000 ₽». База и сценарий — на одном графике.</a:t>
            </a:r>
            <a:endParaRPr lang="en-US" sz="1200" dirty="0"/>
          </a:p>
        </p:txBody>
      </p:sp>
      <p:sp>
        <p:nvSpPr>
          <p:cNvPr id="6" name="sources screenshot frame"/>
          <p:cNvSpPr/>
          <p:nvPr/>
        </p:nvSpPr>
        <p:spPr>
          <a:xfrm>
            <a:off x="5303520" y="1117721"/>
            <a:ext cx="3383280" cy="2153679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sources screenshot" descr="/Users/alex/Documents/HAKATON/cashflow/docs/screens/05_istochniki.png">    </p:cNvPr>
          <p:cNvPicPr>
            <a:picLocks noChangeAspect="1"/>
          </p:cNvPicPr>
          <p:nvPr/>
        </p:nvPicPr>
        <p:blipFill>
          <a:blip r:embed="rId2"/>
          <a:srcRect l="0" r="0" t="0" b="778"/>
          <a:stretch/>
        </p:blipFill>
        <p:spPr>
          <a:xfrm>
            <a:off x="5376672" y="1190873"/>
            <a:ext cx="3236976" cy="2007375"/>
          </a:xfrm>
          <a:prstGeom prst="rect">
            <a:avLst/>
          </a:prstGeom>
        </p:spPr>
      </p:pic>
      <p:sp>
        <p:nvSpPr>
          <p:cNvPr id="8" name="sources list"/>
          <p:cNvSpPr txBox="1"/>
          <p:nvPr/>
        </p:nvSpPr>
        <p:spPr>
          <a:xfrm>
            <a:off x="5303520" y="35204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платёж фразой: «клиент обещал 300 000 ₽ 20-го»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у каждого события виден источник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план-факт: не пришёл платёж → прогноз пересчитан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Источники данных: каждый добавляет точность</a:t>
            </a:r>
            <a:endParaRPr lang="en-US" sz="2600" dirty="0"/>
          </a:p>
        </p:txBody>
      </p:sp>
      <p:sp>
        <p:nvSpPr>
          <p:cNvPr id="3" name="source 0 circle"/>
          <p:cNvSpPr/>
          <p:nvPr/>
        </p:nvSpPr>
        <p:spPr>
          <a:xfrm>
            <a:off x="457200" y="10515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source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165860"/>
            <a:ext cx="228600" cy="228600"/>
          </a:xfrm>
          <a:prstGeom prst="rect">
            <a:avLst/>
          </a:prstGeom>
        </p:spPr>
      </p:pic>
      <p:sp>
        <p:nvSpPr>
          <p:cNvPr id="5" name="source name 0"/>
          <p:cNvSpPr txBox="1"/>
          <p:nvPr/>
        </p:nvSpPr>
        <p:spPr>
          <a:xfrm>
            <a:off x="1051560" y="10515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Банк</a:t>
            </a:r>
            <a:endParaRPr lang="en-US" sz="1300" dirty="0"/>
          </a:p>
        </p:txBody>
      </p:sp>
      <p:sp>
        <p:nvSpPr>
          <p:cNvPr id="6" name="source text 0"/>
          <p:cNvSpPr txBox="1"/>
          <p:nvPr/>
        </p:nvSpPr>
        <p:spPr>
          <a:xfrm>
            <a:off x="1051560" y="1298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выписка, регулярные платежи, графики кредитов, подписанные платёжки</a:t>
            </a:r>
            <a:endParaRPr lang="en-US" sz="1100" dirty="0"/>
          </a:p>
        </p:txBody>
      </p:sp>
      <p:sp>
        <p:nvSpPr>
          <p:cNvPr id="7" name="source 1 circle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ourc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897380"/>
            <a:ext cx="228600" cy="228600"/>
          </a:xfrm>
          <a:prstGeom prst="rect">
            <a:avLst/>
          </a:prstGeom>
        </p:spPr>
      </p:pic>
      <p:sp>
        <p:nvSpPr>
          <p:cNvPr id="9" name="source name 1"/>
          <p:cNvSpPr txBox="1"/>
          <p:nvPr/>
        </p:nvSpPr>
        <p:spPr>
          <a:xfrm>
            <a:off x="1051560" y="17830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1С</a:t>
            </a:r>
            <a:endParaRPr lang="en-US" sz="1300" dirty="0"/>
          </a:p>
        </p:txBody>
      </p:sp>
      <p:sp>
        <p:nvSpPr>
          <p:cNvPr id="10" name="source text 1"/>
          <p:cNvSpPr txBox="1"/>
          <p:nvPr/>
        </p:nvSpPr>
        <p:spPr>
          <a:xfrm>
            <a:off x="1051560" y="20299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счета, договоры, зарплатные ведомости, просрочки</a:t>
            </a:r>
            <a:endParaRPr lang="en-US" sz="1100" dirty="0"/>
          </a:p>
        </p:txBody>
      </p:sp>
      <p:sp>
        <p:nvSpPr>
          <p:cNvPr id="11" name="source 2 circle"/>
          <p:cNvSpPr/>
          <p:nvPr/>
        </p:nvSpPr>
        <p:spPr>
          <a:xfrm>
            <a:off x="457200" y="25146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sourc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28900"/>
            <a:ext cx="228600" cy="228600"/>
          </a:xfrm>
          <a:prstGeom prst="rect">
            <a:avLst/>
          </a:prstGeom>
        </p:spPr>
      </p:pic>
      <p:sp>
        <p:nvSpPr>
          <p:cNvPr id="13" name="source name 2"/>
          <p:cNvSpPr txBox="1"/>
          <p:nvPr/>
        </p:nvSpPr>
        <p:spPr>
          <a:xfrm>
            <a:off x="1051560" y="2514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Налоговый календарь</a:t>
            </a:r>
            <a:endParaRPr lang="en-US" sz="1300" dirty="0"/>
          </a:p>
        </p:txBody>
      </p:sp>
      <p:sp>
        <p:nvSpPr>
          <p:cNvPr id="14" name="source text 2"/>
          <p:cNvSpPr txBox="1"/>
          <p:nvPr/>
        </p:nvSpPr>
        <p:spPr>
          <a:xfrm>
            <a:off x="105156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ЕНП 28-го, УСН, НДС; режим определяем по выписке</a:t>
            </a:r>
            <a:endParaRPr lang="en-US" sz="1100" dirty="0"/>
          </a:p>
        </p:txBody>
      </p:sp>
      <p:sp>
        <p:nvSpPr>
          <p:cNvPr id="15" name="source 3 circle"/>
          <p:cNvSpPr/>
          <p:nvPr/>
        </p:nvSpPr>
        <p:spPr>
          <a:xfrm>
            <a:off x="457200" y="32461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sourc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360420"/>
            <a:ext cx="228600" cy="228600"/>
          </a:xfrm>
          <a:prstGeom prst="rect">
            <a:avLst/>
          </a:prstGeom>
        </p:spPr>
      </p:pic>
      <p:sp>
        <p:nvSpPr>
          <p:cNvPr id="17" name="source name 3"/>
          <p:cNvSpPr txBox="1"/>
          <p:nvPr/>
        </p:nvSpPr>
        <p:spPr>
          <a:xfrm>
            <a:off x="1051560" y="32461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Открытые реестры</a:t>
            </a:r>
            <a:endParaRPr lang="en-US" sz="1300" dirty="0"/>
          </a:p>
        </p:txBody>
      </p:sp>
      <p:sp>
        <p:nvSpPr>
          <p:cNvPr id="18" name="source text 3"/>
          <p:cNvSpPr txBox="1"/>
          <p:nvPr/>
        </p:nvSpPr>
        <p:spPr>
          <a:xfrm>
            <a:off x="1051560" y="34930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долги и суды контрагента → риск задержки оплаты</a:t>
            </a:r>
            <a:endParaRPr lang="en-US" sz="1100" dirty="0"/>
          </a:p>
        </p:txBody>
      </p:sp>
      <p:sp>
        <p:nvSpPr>
          <p:cNvPr id="19" name="source 4 circle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sourc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091940"/>
            <a:ext cx="228600" cy="228600"/>
          </a:xfrm>
          <a:prstGeom prst="rect">
            <a:avLst/>
          </a:prstGeom>
        </p:spPr>
      </p:pic>
      <p:sp>
        <p:nvSpPr>
          <p:cNvPr id="21" name="source name 4"/>
          <p:cNvSpPr txBox="1"/>
          <p:nvPr/>
        </p:nvSpPr>
        <p:spPr>
          <a:xfrm>
            <a:off x="105156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Ручной ввод</a:t>
            </a:r>
            <a:endParaRPr lang="en-US" sz="1300" dirty="0"/>
          </a:p>
        </p:txBody>
      </p:sp>
      <p:sp>
        <p:nvSpPr>
          <p:cNvPr id="22" name="source text 4"/>
          <p:cNvSpPr txBox="1"/>
          <p:nvPr/>
        </p:nvSpPr>
        <p:spPr>
          <a:xfrm>
            <a:off x="1051560" y="42245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форма или обычная фраза</a:t>
            </a:r>
            <a:endParaRPr lang="en-US" sz="1100" dirty="0"/>
          </a:p>
        </p:txBody>
      </p:sp>
      <p:graphicFrame>
        <p:nvGraphicFramePr>
          <p:cNvPr id="23" name="sources chart" descr=""/>
          <p:cNvGraphicFramePr/>
          <p:nvPr/>
        </p:nvGraphicFramePr>
        <p:xfrm>
          <a:off x="4480560" y="1005840"/>
          <a:ext cx="4206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4" name="sources takeaway"/>
          <p:cNvSpPr txBox="1"/>
          <p:nvPr/>
        </p:nvSpPr>
        <p:spPr>
          <a:xfrm>
            <a:off x="4480560" y="39776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Только по выписке разрыв 5 ноября не виден (вероятность 18%). С 1С и реестрами — найден, вероятность 75%.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Как строим прогноз</a:t>
            </a:r>
            <a:endParaRPr lang="en-US" sz="2600" dirty="0"/>
          </a:p>
        </p:txBody>
      </p:sp>
      <p:sp>
        <p:nvSpPr>
          <p:cNvPr id="3" name="pipe card 0"/>
          <p:cNvSpPr/>
          <p:nvPr/>
        </p:nvSpPr>
        <p:spPr>
          <a:xfrm>
            <a:off x="457200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4" name="pipe 0 circle"/>
          <p:cNvSpPr/>
          <p:nvPr/>
        </p:nvSpPr>
        <p:spPr>
          <a:xfrm>
            <a:off x="950976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pipe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508760"/>
            <a:ext cx="274320" cy="274320"/>
          </a:xfrm>
          <a:prstGeom prst="rect">
            <a:avLst/>
          </a:prstGeom>
        </p:spPr>
      </p:pic>
      <p:sp>
        <p:nvSpPr>
          <p:cNvPr id="6" name="pipe title 0"/>
          <p:cNvSpPr txBox="1"/>
          <p:nvPr/>
        </p:nvSpPr>
        <p:spPr>
          <a:xfrm>
            <a:off x="548640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Выписка</a:t>
            </a:r>
            <a:endParaRPr lang="en-US" sz="1300" dirty="0"/>
          </a:p>
        </p:txBody>
      </p:sp>
      <p:sp>
        <p:nvSpPr>
          <p:cNvPr id="7" name="pipe text 0"/>
          <p:cNvSpPr txBox="1"/>
          <p:nvPr/>
        </p:nvSpPr>
        <p:spPr>
          <a:xfrm>
            <a:off x="566928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дубли, пропуски, BOM, «;», ИНН строкой</a:t>
            </a:r>
            <a:endParaRPr lang="en-US" sz="1100" dirty="0"/>
          </a:p>
        </p:txBody>
      </p:sp>
      <p:sp>
        <p:nvSpPr>
          <p:cNvPr id="8" name="pipe card 1"/>
          <p:cNvSpPr/>
          <p:nvPr/>
        </p:nvSpPr>
        <p:spPr>
          <a:xfrm>
            <a:off x="2130552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9" name="pipe 1 circle"/>
          <p:cNvSpPr/>
          <p:nvPr/>
        </p:nvSpPr>
        <p:spPr>
          <a:xfrm>
            <a:off x="2624328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pipe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488" y="1508760"/>
            <a:ext cx="274320" cy="274320"/>
          </a:xfrm>
          <a:prstGeom prst="rect">
            <a:avLst/>
          </a:prstGeom>
        </p:spPr>
      </p:pic>
      <p:sp>
        <p:nvSpPr>
          <p:cNvPr id="11" name="pipe title 1"/>
          <p:cNvSpPr txBox="1"/>
          <p:nvPr/>
        </p:nvSpPr>
        <p:spPr>
          <a:xfrm>
            <a:off x="2221992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Категории</a:t>
            </a:r>
            <a:endParaRPr lang="en-US" sz="1300" dirty="0"/>
          </a:p>
        </p:txBody>
      </p:sp>
      <p:sp>
        <p:nvSpPr>
          <p:cNvPr id="12" name="pipe text 1"/>
          <p:cNvSpPr txBox="1"/>
          <p:nvPr/>
        </p:nvSpPr>
        <p:spPr>
          <a:xfrm>
            <a:off x="2240280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правила + обучение на операциях самой компании</a:t>
            </a:r>
            <a:endParaRPr lang="en-US" sz="1100" dirty="0"/>
          </a:p>
        </p:txBody>
      </p:sp>
      <p:sp>
        <p:nvSpPr>
          <p:cNvPr id="13" name="pipe card 2"/>
          <p:cNvSpPr/>
          <p:nvPr/>
        </p:nvSpPr>
        <p:spPr>
          <a:xfrm>
            <a:off x="3803904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14" name="pipe 2 circle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pipe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08760"/>
            <a:ext cx="274320" cy="274320"/>
          </a:xfrm>
          <a:prstGeom prst="rect">
            <a:avLst/>
          </a:prstGeom>
        </p:spPr>
      </p:pic>
      <p:sp>
        <p:nvSpPr>
          <p:cNvPr id="16" name="pipe title 2"/>
          <p:cNvSpPr txBox="1"/>
          <p:nvPr/>
        </p:nvSpPr>
        <p:spPr>
          <a:xfrm>
            <a:off x="3895344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Регулярные платежи</a:t>
            </a:r>
            <a:endParaRPr lang="en-US" sz="1300" dirty="0"/>
          </a:p>
        </p:txBody>
      </p:sp>
      <p:sp>
        <p:nvSpPr>
          <p:cNvPr id="17" name="pipe text 2"/>
          <p:cNvSpPr txBox="1"/>
          <p:nvPr/>
        </p:nvSpPr>
        <p:spPr>
          <a:xfrm>
            <a:off x="3913632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зарплата, аренда, ЕНП, кредиты, дивиденды</a:t>
            </a:r>
            <a:endParaRPr lang="en-US" sz="1100" dirty="0"/>
          </a:p>
        </p:txBody>
      </p:sp>
      <p:sp>
        <p:nvSpPr>
          <p:cNvPr id="18" name="pipe card 3"/>
          <p:cNvSpPr/>
          <p:nvPr/>
        </p:nvSpPr>
        <p:spPr>
          <a:xfrm>
            <a:off x="5477256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19" name="pipe 3 circle"/>
          <p:cNvSpPr/>
          <p:nvPr/>
        </p:nvSpPr>
        <p:spPr>
          <a:xfrm>
            <a:off x="5971032" y="13716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pipe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192" y="1508760"/>
            <a:ext cx="274320" cy="274320"/>
          </a:xfrm>
          <a:prstGeom prst="rect">
            <a:avLst/>
          </a:prstGeom>
        </p:spPr>
      </p:pic>
      <p:sp>
        <p:nvSpPr>
          <p:cNvPr id="21" name="pipe title 3"/>
          <p:cNvSpPr txBox="1"/>
          <p:nvPr/>
        </p:nvSpPr>
        <p:spPr>
          <a:xfrm>
            <a:off x="5568696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Монте-Карло</a:t>
            </a:r>
            <a:endParaRPr lang="en-US" sz="1300" dirty="0"/>
          </a:p>
        </p:txBody>
      </p:sp>
      <p:sp>
        <p:nvSpPr>
          <p:cNvPr id="22" name="pipe text 3"/>
          <p:cNvSpPr txBox="1"/>
          <p:nvPr/>
        </p:nvSpPr>
        <p:spPr>
          <a:xfrm>
            <a:off x="5586984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2 000 вариантов будущего: задержки оплат, колебания выручки</a:t>
            </a:r>
            <a:endParaRPr lang="en-US" sz="1100" dirty="0"/>
          </a:p>
        </p:txBody>
      </p:sp>
      <p:sp>
        <p:nvSpPr>
          <p:cNvPr id="23" name="pipe card 4"/>
          <p:cNvSpPr/>
          <p:nvPr/>
        </p:nvSpPr>
        <p:spPr>
          <a:xfrm>
            <a:off x="7150608" y="1188720"/>
            <a:ext cx="1536192" cy="219456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/>
        </p:spPr>
      </p:sp>
      <p:sp>
        <p:nvSpPr>
          <p:cNvPr id="24" name="pipe 4 circle"/>
          <p:cNvSpPr/>
          <p:nvPr/>
        </p:nvSpPr>
        <p:spPr>
          <a:xfrm>
            <a:off x="7644384" y="1371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pipe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1544" y="1508760"/>
            <a:ext cx="274320" cy="274320"/>
          </a:xfrm>
          <a:prstGeom prst="rect">
            <a:avLst/>
          </a:prstGeom>
        </p:spPr>
      </p:pic>
      <p:sp>
        <p:nvSpPr>
          <p:cNvPr id="26" name="pipe title 4"/>
          <p:cNvSpPr txBox="1"/>
          <p:nvPr/>
        </p:nvSpPr>
        <p:spPr>
          <a:xfrm>
            <a:off x="7242048" y="2011680"/>
            <a:ext cx="1353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Риски</a:t>
            </a:r>
            <a:endParaRPr lang="en-US" sz="1300" dirty="0"/>
          </a:p>
        </p:txBody>
      </p:sp>
      <p:sp>
        <p:nvSpPr>
          <p:cNvPr id="27" name="pipe text 4"/>
          <p:cNvSpPr txBox="1"/>
          <p:nvPr/>
        </p:nvSpPr>
        <p:spPr>
          <a:xfrm>
            <a:off x="7260336" y="2377440"/>
            <a:ext cx="1316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дата, сумма, вероятность, причина и действия</a:t>
            </a:r>
            <a:endParaRPr lang="en-US" sz="1100" dirty="0"/>
          </a:p>
        </p:txBody>
      </p:sp>
      <p:sp>
        <p:nvSpPr>
          <p:cNvPr id="28" name="pipe result"/>
          <p:cNvSpPr txBox="1"/>
          <p:nvPr/>
        </p:nvSpPr>
        <p:spPr>
          <a:xfrm>
            <a:off x="457200" y="3611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Результат: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остаток по дням — ожидаемый (P50) и возможный диапазон (P10–P90). Два вида риска: разрыв ниже 0 ₽ и остаток ниже комфортного минимума. Без утечки из будущего (тест) и без подгонки под компании.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Проверка качества: честный бэктест</a:t>
            </a:r>
            <a:endParaRPr lang="en-US" sz="2600" dirty="0"/>
          </a:p>
        </p:txBody>
      </p:sp>
      <p:sp>
        <p:nvSpPr>
          <p:cNvPr id="3" name="mae value"/>
          <p:cNvSpPr txBox="1"/>
          <p:nvPr/>
        </p:nvSpPr>
        <p:spPr>
          <a:xfrm>
            <a:off x="457200" y="10515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16%</a:t>
            </a:r>
            <a:endParaRPr lang="en-US" sz="4000" dirty="0"/>
          </a:p>
        </p:txBody>
      </p:sp>
      <p:sp>
        <p:nvSpPr>
          <p:cNvPr id="4" name="mae label"/>
          <p:cNvSpPr txBox="1"/>
          <p:nvPr/>
        </p:nvSpPr>
        <p:spPr>
          <a:xfrm>
            <a:off x="457200" y="1737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ошибка остатка на 30 дней; у наивной модели 21%</a:t>
            </a:r>
            <a:endParaRPr lang="en-US" sz="1200" dirty="0"/>
          </a:p>
        </p:txBody>
      </p:sp>
      <p:sp>
        <p:nvSpPr>
          <p:cNvPr id="5" name="coverage value"/>
          <p:cNvSpPr txBox="1"/>
          <p:nvPr/>
        </p:nvSpPr>
        <p:spPr>
          <a:xfrm>
            <a:off x="457200" y="2240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80%</a:t>
            </a:r>
            <a:endParaRPr lang="en-US" sz="4000" dirty="0"/>
          </a:p>
        </p:txBody>
      </p:sp>
      <p:sp>
        <p:nvSpPr>
          <p:cNvPr id="6" name="coverage label"/>
          <p:cNvSpPr txBox="1"/>
          <p:nvPr/>
        </p:nvSpPr>
        <p:spPr>
          <a:xfrm>
            <a:off x="457200" y="2926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дней факт внутри «возможного диапазона» (цель 80%)</a:t>
            </a:r>
            <a:endParaRPr lang="en-US" sz="1200" dirty="0"/>
          </a:p>
        </p:txBody>
      </p:sp>
      <p:sp>
        <p:nvSpPr>
          <p:cNvPr id="7" name="recall value"/>
          <p:cNvSpPr txBox="1"/>
          <p:nvPr/>
        </p:nvSpPr>
        <p:spPr>
          <a:xfrm>
            <a:off x="45720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72%</a:t>
            </a:r>
            <a:endParaRPr lang="en-US" sz="4000" dirty="0"/>
          </a:p>
        </p:txBody>
      </p:sp>
      <p:sp>
        <p:nvSpPr>
          <p:cNvPr id="8" name="recall label"/>
          <p:cNvSpPr txBox="1"/>
          <p:nvPr/>
        </p:nvSpPr>
        <p:spPr>
          <a:xfrm>
            <a:off x="457200" y="4114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разрывов найдено заранее, в среднем за 14 дней</a:t>
            </a:r>
            <a:endParaRPr lang="en-US" sz="1200" dirty="0"/>
          </a:p>
        </p:txBody>
      </p:sp>
      <p:graphicFrame>
        <p:nvGraphicFramePr>
          <p:cNvPr id="9" name="models chart" descr=""/>
          <p:cNvGraphicFramePr/>
          <p:nvPr/>
        </p:nvGraphicFramePr>
        <p:xfrm>
          <a:off x="3383280" y="1005840"/>
          <a:ext cx="53035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method card"/>
          <p:cNvSpPr/>
          <p:nvPr/>
        </p:nvSpPr>
        <p:spPr>
          <a:xfrm>
            <a:off x="3383280" y="3749040"/>
            <a:ext cx="5303520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/>
        </p:spPr>
      </p:sp>
      <p:sp>
        <p:nvSpPr>
          <p:cNvPr id="11" name="method text"/>
          <p:cNvSpPr txBox="1"/>
          <p:nvPr/>
        </p:nvSpPr>
        <p:spPr>
          <a:xfrm>
            <a:off x="3520440" y="381304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150 компаний разделены на dev и holdout (по отраслям). Параметры — только на dev; цифры — только holdout: 73 компании, 542 прогнозов на модель, rolling origin 8 × 30 дней.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Архитектура и безопасность</a:t>
            </a:r>
            <a:endParaRPr lang="en-US" sz="2600" dirty="0"/>
          </a:p>
        </p:txBody>
      </p:sp>
      <p:pic>
        <p:nvPicPr>
          <p:cNvPr id="3" name="architecture diagram" descr="/Users/alex/Documents/HAKATON/cashflow/docs/architecture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685553" cy="2743200"/>
          </a:xfrm>
          <a:prstGeom prst="rect">
            <a:avLst/>
          </a:prstGeom>
        </p:spPr>
      </p:pic>
      <p:sp>
        <p:nvSpPr>
          <p:cNvPr id="4" name="security 0 circle"/>
          <p:cNvSpPr/>
          <p:nvPr/>
        </p:nvSpPr>
        <p:spPr>
          <a:xfrm>
            <a:off x="5417073" y="10515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security 0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3085" y="1147572"/>
            <a:ext cx="192024" cy="192024"/>
          </a:xfrm>
          <a:prstGeom prst="rect">
            <a:avLst/>
          </a:prstGeom>
        </p:spPr>
      </p:pic>
      <p:sp>
        <p:nvSpPr>
          <p:cNvPr id="6" name="security text 0"/>
          <p:cNvSpPr txBox="1"/>
          <p:nvPr/>
        </p:nvSpPr>
        <p:spPr>
          <a:xfrm>
            <a:off x="5919993" y="1033272"/>
            <a:ext cx="27668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JWT, пароли PBKDF2</a:t>
            </a:r>
            <a:endParaRPr lang="en-US" sz="1100" dirty="0"/>
          </a:p>
        </p:txBody>
      </p:sp>
      <p:sp>
        <p:nvSpPr>
          <p:cNvPr id="7" name="security 1 circle"/>
          <p:cNvSpPr/>
          <p:nvPr/>
        </p:nvSpPr>
        <p:spPr>
          <a:xfrm>
            <a:off x="5417073" y="161848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ecurity 1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085" y="1714500"/>
            <a:ext cx="192024" cy="192024"/>
          </a:xfrm>
          <a:prstGeom prst="rect">
            <a:avLst/>
          </a:prstGeom>
        </p:spPr>
      </p:pic>
      <p:sp>
        <p:nvSpPr>
          <p:cNvPr id="9" name="security text 1"/>
          <p:cNvSpPr txBox="1"/>
          <p:nvPr/>
        </p:nvSpPr>
        <p:spPr>
          <a:xfrm>
            <a:off x="5919993" y="1600200"/>
            <a:ext cx="27668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только своя компания; у гостя демо — своя копия</a:t>
            </a:r>
            <a:endParaRPr lang="en-US" sz="1100" dirty="0"/>
          </a:p>
        </p:txBody>
      </p:sp>
      <p:sp>
        <p:nvSpPr>
          <p:cNvPr id="10" name="security 2 circle"/>
          <p:cNvSpPr/>
          <p:nvPr/>
        </p:nvSpPr>
        <p:spPr>
          <a:xfrm>
            <a:off x="5417073" y="21854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security 2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3085" y="2281428"/>
            <a:ext cx="192024" cy="192024"/>
          </a:xfrm>
          <a:prstGeom prst="rect">
            <a:avLst/>
          </a:prstGeom>
        </p:spPr>
      </p:pic>
      <p:sp>
        <p:nvSpPr>
          <p:cNvPr id="12" name="security text 2"/>
          <p:cNvSpPr txBox="1"/>
          <p:nvPr/>
        </p:nvSpPr>
        <p:spPr>
          <a:xfrm>
            <a:off x="5919993" y="2167128"/>
            <a:ext cx="27668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в логах нет ИНН, сумм, названий, токенов (тест)</a:t>
            </a:r>
            <a:endParaRPr lang="en-US" sz="1100" dirty="0"/>
          </a:p>
        </p:txBody>
      </p:sp>
      <p:sp>
        <p:nvSpPr>
          <p:cNvPr id="13" name="security 3 circle"/>
          <p:cNvSpPr/>
          <p:nvPr/>
        </p:nvSpPr>
        <p:spPr>
          <a:xfrm>
            <a:off x="5417073" y="275234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security 3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085" y="2848356"/>
            <a:ext cx="192024" cy="192024"/>
          </a:xfrm>
          <a:prstGeom prst="rect">
            <a:avLst/>
          </a:prstGeom>
        </p:spPr>
      </p:pic>
      <p:sp>
        <p:nvSpPr>
          <p:cNvPr id="15" name="security text 3"/>
          <p:cNvSpPr txBox="1"/>
          <p:nvPr/>
        </p:nvSpPr>
        <p:spPr>
          <a:xfrm>
            <a:off x="5919993" y="2734056"/>
            <a:ext cx="27668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лимит запросов и размера файла</a:t>
            </a:r>
            <a:endParaRPr lang="en-US" sz="1100" dirty="0"/>
          </a:p>
        </p:txBody>
      </p:sp>
      <p:sp>
        <p:nvSpPr>
          <p:cNvPr id="16" name="security 4 circle"/>
          <p:cNvSpPr/>
          <p:nvPr/>
        </p:nvSpPr>
        <p:spPr>
          <a:xfrm>
            <a:off x="5417073" y="331927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security 4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3085" y="3415284"/>
            <a:ext cx="192024" cy="192024"/>
          </a:xfrm>
          <a:prstGeom prst="rect">
            <a:avLst/>
          </a:prstGeom>
        </p:spPr>
      </p:pic>
      <p:sp>
        <p:nvSpPr>
          <p:cNvPr id="18" name="security text 4"/>
          <p:cNvSpPr txBox="1"/>
          <p:nvPr/>
        </p:nvSpPr>
        <p:spPr>
          <a:xfrm>
            <a:off x="5919993" y="3300984"/>
            <a:ext cx="27668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HTTPS: Caddy + Let’s Encrypt, docker-compose</a:t>
            </a:r>
            <a:endParaRPr lang="en-US" sz="1100" dirty="0"/>
          </a:p>
        </p:txBody>
      </p:sp>
      <p:sp>
        <p:nvSpPr>
          <p:cNvPr id="19" name="architecture caption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web (React) → API (FastAPI, SQLite, интеграции) → ядро cashflow_core (Python). Единый контракт JSON.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Сделано сверх минимума и что дальше</a:t>
            </a:r>
            <a:endParaRPr lang="en-US" sz="2600" dirty="0"/>
          </a:p>
        </p:txBody>
      </p:sp>
      <p:sp>
        <p:nvSpPr>
          <p:cNvPr id="3" name="done card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/>
        </p:spPr>
      </p:sp>
      <p:sp>
        <p:nvSpPr>
          <p:cNvPr id="4" name="done title"/>
          <p:cNvSpPr txBox="1"/>
          <p:nvPr/>
        </p:nvSpPr>
        <p:spPr>
          <a:xfrm>
            <a:off x="6858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Работает в прототипе</a:t>
            </a:r>
            <a:endParaRPr lang="en-US" sz="1600" dirty="0"/>
          </a:p>
        </p:txBody>
      </p:sp>
      <p:sp>
        <p:nvSpPr>
          <p:cNvPr id="5" name="done list"/>
          <p:cNvSpPr txBox="1"/>
          <p:nvPr/>
        </p:nvSpPr>
        <p:spPr>
          <a:xfrm>
            <a:off x="685800" y="160020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внешние события: 1С, банк, налоги, реестры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ручной ввод — формой и обычной фразой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«что если» по 4 сценариям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план-факт с пересчётом прогноза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прогноз для 150 компаний одной командой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телефон, планшет, ноутбук</a:t>
            </a:r>
            <a:endParaRPr lang="en-US" sz="1300" dirty="0"/>
          </a:p>
        </p:txBody>
      </p:sp>
      <p:sp>
        <p:nvSpPr>
          <p:cNvPr id="6" name="mobile screenshot frame"/>
          <p:cNvSpPr/>
          <p:nvPr/>
        </p:nvSpPr>
        <p:spPr>
          <a:xfrm>
            <a:off x="4663440" y="1138827"/>
            <a:ext cx="1645920" cy="3391627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7" name="mobile screenshot" descr="/Users/alex/Documents/HAKATON/cashflow/docs/screens/10_telef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36592" y="1211979"/>
            <a:ext cx="1499616" cy="3245323"/>
          </a:xfrm>
          <a:prstGeom prst="rect">
            <a:avLst/>
          </a:prstGeom>
        </p:spPr>
      </p:pic>
      <p:sp>
        <p:nvSpPr>
          <p:cNvPr id="8" name="next title"/>
          <p:cNvSpPr txBox="1"/>
          <p:nvPr/>
        </p:nvSpPr>
        <p:spPr>
          <a:xfrm>
            <a:off x="6537960" y="11887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Дальше</a:t>
            </a:r>
            <a:endParaRPr lang="en-US" sz="1600" dirty="0"/>
          </a:p>
        </p:txBody>
      </p:sp>
      <p:sp>
        <p:nvSpPr>
          <p:cNvPr id="9" name="next list"/>
          <p:cNvSpPr txBox="1"/>
          <p:nvPr/>
        </p:nvSpPr>
        <p:spPr>
          <a:xfrm>
            <a:off x="6537960" y="1600200"/>
            <a:ext cx="2148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виджет в интернет-банке: выписка уже в банке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уведомление за 2 недели до разрыва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овердрафт прямо из предупреждения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настоящие API 1С и ФНС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8046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Предупреждаем о разрыве заранее и говорим, что делать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2D6"/>
                </a:solidFill>
              </a:rPr>
              <a:t>Прогноз на 30+ дней по дням · дата, сумма и вероятность разрыва · ошибка 16% против 21% у наивной модели · реальный разрыв 30.09.2025 — за 14 дней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енежный прогноз">
  <a:themeElements>
    <a:clrScheme name="Денежный прогноз">
      <a:dk1>
        <a:srgbClr val="13241C"/>
      </a:dk1>
      <a:lt1>
        <a:srgbClr val="FFFFFF"/>
      </a:lt1>
      <a:dk2>
        <a:srgbClr val="0B3D2E"/>
      </a:dk2>
      <a:lt2>
        <a:srgbClr val="F3F6F1"/>
      </a:lt2>
      <a:accent1>
        <a:srgbClr val="8DC63F"/>
      </a:accent1>
      <a:accent2>
        <a:srgbClr val="11553F"/>
      </a:accent2>
      <a:accent3>
        <a:srgbClr val="D23B3B"/>
      </a:accent3>
      <a:accent4>
        <a:srgbClr val="D98A00"/>
      </a:accent4>
      <a:accent5>
        <a:srgbClr val="2F6FB3"/>
      </a:accent5>
      <a:accent6>
        <a:srgbClr val="7A8A80"/>
      </a:accent6>
      <a:hlink>
        <a:srgbClr val="11553F"/>
      </a:hlink>
      <a:folHlink>
        <a:srgbClr val="6FA62A"/>
      </a:folHlink>
    </a:clrScheme>
    <a:fontScheme name="Денежный прогноз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Денежный прогноз — прогноз остатка и кассовых разрывов для малого бизнеса</dc:title>
  <dc:subject>PptxGenJS Presentation</dc:subject>
  <dc:creator>Команда «Денежный прогноз»</dc:creator>
  <cp:lastModifiedBy>Команда «Денежный прогноз»</cp:lastModifiedBy>
  <cp:revision>1</cp:revision>
  <dcterms:created xsi:type="dcterms:W3CDTF">2026-10-23T23:55:38Z</dcterms:created>
  <dcterms:modified xsi:type="dcterms:W3CDTF">2026-10-23T23:55:38Z</dcterms:modified>
</cp:coreProperties>
</file>