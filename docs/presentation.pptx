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3f7895b8-7f2f-c9db-3923-4943a4182f10}">
          <p14:sldIdLst>
            <p14:sldId id="256"/>
          </p14:sldIdLst>
        </p14:section>
        <p14:section name="Проблема и решение" id="{a8cd891a-4baf-e196-1ff3-a916405fd701}">
          <p14:sldIdLst>
            <p14:sldId id="257"/>
            <p14:sldId id="258"/>
          </p14:sldIdLst>
        </p14:section>
        <p14:section name="Демо" id="{6777b08a-3457-1527-89d8-cc763fa6f179}">
          <p14:sldIdLst>
            <p14:sldId id="259"/>
            <p14:sldId id="260"/>
            <p14:sldId id="261"/>
          </p14:sldIdLst>
        </p14:section>
        <p14:section name="Данные и подход" id="{d1aeb189-8bce-8e28-b5e3-80a94ce1a30f}">
          <p14:sldIdLst>
            <p14:sldId id="262"/>
            <p14:sldId id="263"/>
            <p14:sldId id="264"/>
          </p14:sldIdLst>
        </p14:section>
        <p14:section name="Архитектура и безопасность" id="{9547ed48-096d-7dfb-6689-50b2b6c46a81}">
          <p14:sldIdLst>
            <p14:sldId id="265"/>
            <p14:sldId id="266"/>
          </p14:sldIdLst>
        </p14:section>
        <p14:section name="Итоги" id="{b4a0e2b2-7cf7-e244-a886-0da0d8f28a93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41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3241C"/>
                </a:solidFill>
                <a:latin typeface="+mn-lt"/>
              </a:rPr>
              <a:t>Средняя ошибка остатка на 30 дней, млн ₽ (S02)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Ошибка прогноза, млн ₽</c:v>
                </c:pt>
              </c:strCache>
            </c:strRef>
          </c:tx>
          <c:spPr>
            <a:solidFill>
              <a:srgbClr val="7A8A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4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55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55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C63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Только выписка</c:v>
                  </c:pt>
                  <c:pt idx="1">
                    <c:v>+ налоговый календарь</c:v>
                  </c:pt>
                  <c:pt idx="2">
                    <c:v>+ 1С</c:v>
                  </c:pt>
                  <c:pt idx="3">
                    <c:v>+ открытые реестры</c:v>
                  </c:pt>
                  <c:pt idx="4">
                    <c:v>+ 1С + реестры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1.67</c:v>
                </c:pt>
                <c:pt idx="2">
                  <c:v>1.27</c:v>
                </c:pt>
                <c:pt idx="3">
                  <c:v>0.78</c:v>
                </c:pt>
                <c:pt idx="4">
                  <c:v>0.51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324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D5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41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3241C"/>
                </a:solidFill>
                <a:latin typeface="+mn-lt"/>
              </a:rPr>
              <a:t>Ошибка остатка на 30 дней, % месячного оборота (меньше — лучше)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Ошибка остатка, % оборота</c:v>
                </c:pt>
              </c:strCache>
            </c:strRef>
          </c:tx>
          <c:spPr>
            <a:solidFill>
              <a:srgbClr val="7A8A8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4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553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Наивная (повтор 28 дней)</c:v>
                  </c:pt>
                  <c:pt idx="1">
                    <c:v>Сезонная (ETS)</c:v>
                  </c:pt>
                  <c:pt idx="2">
                    <c:v>Наш гибрид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19</c:v>
                </c:pt>
                <c:pt idx="2">
                  <c:v>16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324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D5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Малый бизнес часто закрывается не из-за убытков, а потому что в нужный день на счёте нет денег. Наш сервис заранее говорит предпринимателю: хватит ли денег, когда не хватит и что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 прибыльный, но деньги приходят с задержкой, а зарплата, ЕНП 28-го, аренда и кредит — по расписанию. Это реальный сценарий демо-компании S02: остаток действительно ушёл в минус 5 ноября, и наш прогноз предупредил об этом за 13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кейса: прогноз остатка по дням минимум на 30 дней, кассовые разрывы с датой, суммой и вероятностью, понятно для предпринимателя. Всё это — на главном экране.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Входим, видим одну фразу: через 13 дней, 5 ноября, может не хватить 685 000 ₽, вероятность 97%. Ниже причина: 5 ноября зарплата 956 тыс. ₽ и аренда, а крупный клиент задерживает 2,3 млн ₽, и первое, что можно сделать — попросить его заплатить до 5 ноября. Наводим на график: линия — ожидаемый остаток, полоса — возможный диапазон, красная зона — денег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Предприниматель проверяет свои страхи. Задержка крупного клиента на 3 недели: разрыв останется 5 ноября, но не хватит уже 936 000 ₽ вместо 685 000 ₽ и продлится дольше. Оба прогноза на одном графике.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Сравниваем план с фактом. Клиент не заплатил в срок — одной кнопкой пересчитываем прогноз. Кроме выписки учитываем 1С, налоговый календарь, банк, открытые реестры и ручной ввод.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api/reports/sources_effect.md — прогноз на 30 дней сравнивается с тем, что было на самом деле. На реальных выписках организаторов (holdout, 38 компаний) налоговый календарь улучшает прогноз в 18 компаниях из 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не чёрный ящик: каждая сумма в причине риска подписана источником — «из выписки», «налоговый календарь», «из 1С».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core/reports/metrics.md. Precision предупреждений о разрыве — 46%: каждое второе предупреждение — ложное, но цена пропущенного разрыва для владельца выше. Категоризация со скрытым назначением платежа: accuracy 97%.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— независимый Python-пакет, API — по открытому контракту docs/contract.md. Встраивается в интернет-банк как виджет.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Подробности — api/README.md, раздел «Безопасность»; фильтр логов — api/logging_setup.py.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Пакетный прогноз для контрольного датасета: python -m api.predict — все 150 компаний за 85 с на 4 процессах, детерминированно.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Готовы показать сервис вживую и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2D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Денежный прогноз · хакатон Банка Центр-Инвест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ark"/>
          <p:cNvSpPr/>
          <p:nvPr/>
        </p:nvSpPr>
        <p:spPr>
          <a:xfrm>
            <a:off x="548640" y="64008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3" name="logo glyph"/>
          <p:cNvSpPr txBox="1"/>
          <p:nvPr/>
        </p:nvSpPr>
        <p:spPr>
          <a:xfrm>
            <a:off x="54864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₽</a:t>
            </a:r>
            <a:endParaRPr lang="en-US" sz="2600" dirty="0"/>
          </a:p>
        </p:txBody>
      </p:sp>
      <p:sp>
        <p:nvSpPr>
          <p:cNvPr id="4" name="event"/>
          <p:cNvSpPr txBox="1"/>
          <p:nvPr/>
        </p:nvSpPr>
        <p:spPr>
          <a:xfrm>
            <a:off x="128016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7B5"/>
                </a:solidFill>
              </a:rPr>
              <a:t>Хакатон Банка Центр-Инвест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91440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Денежный прогноз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2D6"/>
                </a:solidFill>
              </a:rPr>
              <a:t>Предприниматель за 10 секунд понимает: хватит ли денег в ближайший месяц, когда не хватит и что делать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Прибыльный бизнес, а платить зарплату нечем</a:t>
            </a:r>
            <a:endParaRPr lang="en-US" sz="2600" dirty="0"/>
          </a:p>
        </p:txBody>
      </p:sp>
      <p:sp>
        <p:nvSpPr>
          <p:cNvPr id="3" name="persona card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4" name="persona circle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erson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274320" cy="274320"/>
          </a:xfrm>
          <a:prstGeom prst="rect">
            <a:avLst/>
          </a:prstGeom>
        </p:spPr>
      </p:pic>
      <p:sp>
        <p:nvSpPr>
          <p:cNvPr id="6" name="persona name"/>
          <p:cNvSpPr txBox="1"/>
          <p:nvPr/>
        </p:nvSpPr>
        <p:spPr>
          <a:xfrm>
            <a:off x="141732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ООО «Вектор Бизнес-Сервис»</a:t>
            </a:r>
            <a:endParaRPr lang="en-US" sz="1400" dirty="0"/>
          </a:p>
        </p:txBody>
      </p:sp>
      <p:sp>
        <p:nvSpPr>
          <p:cNvPr id="7" name="persona sub"/>
          <p:cNvSpPr txBox="1"/>
          <p:nvPr/>
        </p:nvSpPr>
        <p:spPr>
          <a:xfrm>
            <a:off x="14173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ИТ-аутсорсинг, 22 сотрудника, демо-компания S02</a:t>
            </a:r>
            <a:endParaRPr lang="en-US" sz="1100" dirty="0"/>
          </a:p>
        </p:txBody>
      </p:sp>
      <p:sp>
        <p:nvSpPr>
          <p:cNvPr id="8" name="persona facts"/>
          <p:cNvSpPr txBox="1"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2,5 млн ₽ на счёте сегодня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45% выручки — один клиент, и он задерживает счёт на 2,3 млн 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28 октября — ЕНП ≈ 1,5 млн ₽, 5 ноября — зарплата 956 тыс. 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 выписке этого не видно — разрыв обнаружится в день платежа</a:t>
            </a:r>
            <a:endParaRPr lang="en-US" sz="1400" dirty="0"/>
          </a:p>
        </p:txBody>
      </p:sp>
      <p:sp>
        <p:nvSpPr>
          <p:cNvPr id="9" name="real gap value"/>
          <p:cNvSpPr txBox="1"/>
          <p:nvPr/>
        </p:nvSpPr>
        <p:spPr>
          <a:xfrm>
            <a:off x="4846320" y="1188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−544 000 ₽</a:t>
            </a:r>
            <a:endParaRPr lang="en-US" sz="4000" dirty="0"/>
          </a:p>
        </p:txBody>
      </p:sp>
      <p:sp>
        <p:nvSpPr>
          <p:cNvPr id="10" name="real gap label"/>
          <p:cNvSpPr txBox="1"/>
          <p:nvPr/>
        </p:nvSpPr>
        <p:spPr>
          <a:xfrm>
            <a:off x="484632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реальный минимум остатка 5 ноября: остаток был ниже нуля с 5 по 13 ноября</a:t>
            </a:r>
            <a:endParaRPr lang="en-US" sz="1200" dirty="0"/>
          </a:p>
        </p:txBody>
      </p:sp>
      <p:sp>
        <p:nvSpPr>
          <p:cNvPr id="11" name="lead time value"/>
          <p:cNvSpPr txBox="1"/>
          <p:nvPr/>
        </p:nvSpPr>
        <p:spPr>
          <a:xfrm>
            <a:off x="4846320" y="2514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за 13 дней</a:t>
            </a:r>
            <a:endParaRPr lang="en-US" sz="4000" dirty="0"/>
          </a:p>
        </p:txBody>
      </p:sp>
      <p:sp>
        <p:nvSpPr>
          <p:cNvPr id="12" name="lead time label"/>
          <p:cNvSpPr txBox="1"/>
          <p:nvPr/>
        </p:nvSpPr>
        <p:spPr>
          <a:xfrm>
            <a:off x="4846320" y="3200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наш прогноз предупредил об этом разрыве, когда подключили 1С и открытые реестры</a:t>
            </a:r>
            <a:endParaRPr lang="en-US" sz="1200" dirty="0"/>
          </a:p>
        </p:txBody>
      </p:sp>
      <p:sp>
        <p:nvSpPr>
          <p:cNvPr id="13" name="target user"/>
          <p:cNvSpPr txBox="1"/>
          <p:nvPr/>
        </p:nvSpPr>
        <p:spPr>
          <a:xfrm>
            <a:off x="4846320" y="3886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Целевой пользователь — владелец малого бизнеса без финансового образования: ему нужна не таблица, а ответ «хватит или нет».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Три ответа на одном экране</a:t>
            </a:r>
            <a:endParaRPr lang="en-US" sz="2600" dirty="0"/>
          </a:p>
        </p:txBody>
      </p:sp>
      <p:sp>
        <p:nvSpPr>
          <p:cNvPr id="3" name="solution 0 circle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solutio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268730"/>
            <a:ext cx="251460" cy="251460"/>
          </a:xfrm>
          <a:prstGeom prst="rect">
            <a:avLst/>
          </a:prstGeom>
        </p:spPr>
      </p:pic>
      <p:sp>
        <p:nvSpPr>
          <p:cNvPr id="5" name="solution title 0"/>
          <p:cNvSpPr txBox="1"/>
          <p:nvPr/>
        </p:nvSpPr>
        <p:spPr>
          <a:xfrm>
            <a:off x="1097280" y="1143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Хватит ли денег</a:t>
            </a:r>
            <a:endParaRPr lang="en-US" sz="1600" dirty="0"/>
          </a:p>
        </p:txBody>
      </p:sp>
      <p:sp>
        <p:nvSpPr>
          <p:cNvPr id="6" name="solution text 0"/>
          <p:cNvSpPr txBox="1"/>
          <p:nvPr/>
        </p:nvSpPr>
        <p:spPr>
          <a:xfrm>
            <a:off x="1097280" y="14538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Светофор и одна фраза простыми словами: «через 13 дней, 5 ноября, может не хватить 685 000 ₽»</a:t>
            </a:r>
            <a:endParaRPr lang="en-US" sz="1200" dirty="0"/>
          </a:p>
        </p:txBody>
      </p:sp>
      <p:sp>
        <p:nvSpPr>
          <p:cNvPr id="7" name="solution 1 circle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soluti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411730"/>
            <a:ext cx="251460" cy="251460"/>
          </a:xfrm>
          <a:prstGeom prst="rect">
            <a:avLst/>
          </a:prstGeom>
        </p:spPr>
      </p:pic>
      <p:sp>
        <p:nvSpPr>
          <p:cNvPr id="9" name="solution title 1"/>
          <p:cNvSpPr txBox="1"/>
          <p:nvPr/>
        </p:nvSpPr>
        <p:spPr>
          <a:xfrm>
            <a:off x="1097280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Когда и сколько</a:t>
            </a:r>
            <a:endParaRPr lang="en-US" sz="1600" dirty="0"/>
          </a:p>
        </p:txBody>
      </p:sp>
      <p:sp>
        <p:nvSpPr>
          <p:cNvPr id="10" name="solution text 1"/>
          <p:cNvSpPr txBox="1"/>
          <p:nvPr/>
        </p:nvSpPr>
        <p:spPr>
          <a:xfrm>
            <a:off x="1097280" y="25968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Остаток по дням на 30+ дней: ожидаемый и возможный диапазон, дата, сумма и вероятность разрыва</a:t>
            </a:r>
            <a:endParaRPr lang="en-US" sz="1200" dirty="0"/>
          </a:p>
        </p:txBody>
      </p:sp>
      <p:sp>
        <p:nvSpPr>
          <p:cNvPr id="11" name="solution 2 circle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olutio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554730"/>
            <a:ext cx="251460" cy="251460"/>
          </a:xfrm>
          <a:prstGeom prst="rect">
            <a:avLst/>
          </a:prstGeom>
        </p:spPr>
      </p:pic>
      <p:sp>
        <p:nvSpPr>
          <p:cNvPr id="13" name="solution title 2"/>
          <p:cNvSpPr txBox="1"/>
          <p:nvPr/>
        </p:nvSpPr>
        <p:spPr>
          <a:xfrm>
            <a:off x="1097280" y="3429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делать</a:t>
            </a:r>
            <a:endParaRPr lang="en-US" sz="1600" dirty="0"/>
          </a:p>
        </p:txBody>
      </p:sp>
      <p:sp>
        <p:nvSpPr>
          <p:cNvPr id="14" name="solution text 2"/>
          <p:cNvSpPr txBox="1"/>
          <p:nvPr/>
        </p:nvSpPr>
        <p:spPr>
          <a:xfrm>
            <a:off x="1097280" y="37398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2–3 конкретных действия: кого попросить заплатить раньше, что перенести, когда нужен овердрафт</a:t>
            </a:r>
            <a:endParaRPr lang="en-US" sz="1200" dirty="0"/>
          </a:p>
        </p:txBody>
      </p:sp>
      <p:sp>
        <p:nvSpPr>
          <p:cNvPr id="15" name="risk card screenshot frame"/>
          <p:cNvSpPr/>
          <p:nvPr/>
        </p:nvSpPr>
        <p:spPr>
          <a:xfrm>
            <a:off x="4160520" y="2190584"/>
            <a:ext cx="4526280" cy="1333833"/>
          </a:xfrm>
          <a:prstGeom prst="roundRect">
            <a:avLst>
              <a:gd name="adj" fmla="val 548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risk card screenshot" descr="/Users/alex/Documents/HAKATON/cashflow/docs/screenshots/02_risk_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263736"/>
            <a:ext cx="4379976" cy="11875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Демо: выписка → прогноз → предупреждение</a:t>
            </a:r>
            <a:endParaRPr lang="en-US" sz="2600" dirty="0"/>
          </a:p>
        </p:txBody>
      </p:sp>
      <p:sp>
        <p:nvSpPr>
          <p:cNvPr id="3" name="dashboard screenshot frame"/>
          <p:cNvSpPr/>
          <p:nvPr/>
        </p:nvSpPr>
        <p:spPr>
          <a:xfrm>
            <a:off x="464515" y="1005840"/>
            <a:ext cx="5837530" cy="3703320"/>
          </a:xfrm>
          <a:prstGeom prst="roundRect">
            <a:avLst>
              <a:gd name="adj" fmla="val 197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dashboard screenshot" descr="/Users/alex/Documents/HAKATON/cashflow/docs/screenshots/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" y="1078992"/>
            <a:ext cx="5691226" cy="3557016"/>
          </a:xfrm>
          <a:prstGeom prst="rect">
            <a:avLst/>
          </a:prstGeom>
        </p:spPr>
      </p:pic>
      <p:sp>
        <p:nvSpPr>
          <p:cNvPr id="5" name="step dot 0"/>
          <p:cNvSpPr/>
          <p:nvPr/>
        </p:nvSpPr>
        <p:spPr>
          <a:xfrm>
            <a:off x="6583680" y="1097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 num 0"/>
          <p:cNvSpPr txBox="1"/>
          <p:nvPr/>
        </p:nvSpPr>
        <p:spPr>
          <a:xfrm>
            <a:off x="65836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text 0"/>
          <p:cNvSpPr txBox="1"/>
          <p:nvPr/>
        </p:nvSpPr>
        <p:spPr>
          <a:xfrm>
            <a:off x="7086600" y="10515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Загрузили CSV выписки — 2 года, дубли и пропуски разобраны сами</a:t>
            </a:r>
            <a:endParaRPr lang="en-US" sz="1100" dirty="0"/>
          </a:p>
        </p:txBody>
      </p:sp>
      <p:sp>
        <p:nvSpPr>
          <p:cNvPr id="8" name="step dot 1"/>
          <p:cNvSpPr/>
          <p:nvPr/>
        </p:nvSpPr>
        <p:spPr>
          <a:xfrm>
            <a:off x="6583680" y="19933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 num 1"/>
          <p:cNvSpPr txBox="1"/>
          <p:nvPr/>
        </p:nvSpPr>
        <p:spPr>
          <a:xfrm>
            <a:off x="65836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text 1"/>
          <p:cNvSpPr txBox="1"/>
          <p:nvPr/>
        </p:nvSpPr>
        <p:spPr>
          <a:xfrm>
            <a:off x="7086600" y="1947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Подключили 1С, налоговый календарь, банк, реестры</a:t>
            </a:r>
            <a:endParaRPr lang="en-US" sz="1100" dirty="0"/>
          </a:p>
        </p:txBody>
      </p:sp>
      <p:sp>
        <p:nvSpPr>
          <p:cNvPr id="11" name="step dot 2"/>
          <p:cNvSpPr/>
          <p:nvPr/>
        </p:nvSpPr>
        <p:spPr>
          <a:xfrm>
            <a:off x="6583680" y="28895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 num 2"/>
          <p:cNvSpPr txBox="1"/>
          <p:nvPr/>
        </p:nvSpPr>
        <p:spPr>
          <a:xfrm>
            <a:off x="658368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2"/>
          <p:cNvSpPr txBox="1"/>
          <p:nvPr/>
        </p:nvSpPr>
        <p:spPr>
          <a:xfrm>
            <a:off x="7086600" y="284378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Главная: светофор, причина, первое действие</a:t>
            </a:r>
            <a:endParaRPr lang="en-US" sz="1100" dirty="0"/>
          </a:p>
        </p:txBody>
      </p:sp>
      <p:sp>
        <p:nvSpPr>
          <p:cNvPr id="14" name="step dot 3"/>
          <p:cNvSpPr/>
          <p:nvPr/>
        </p:nvSpPr>
        <p:spPr>
          <a:xfrm>
            <a:off x="6583680" y="37856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num 3"/>
          <p:cNvSpPr txBox="1"/>
          <p:nvPr/>
        </p:nvSpPr>
        <p:spPr>
          <a:xfrm>
            <a:off x="658368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text 3"/>
          <p:cNvSpPr txBox="1"/>
          <p:nvPr/>
        </p:nvSpPr>
        <p:spPr>
          <a:xfrm>
            <a:off x="7086600" y="373989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График: ожидаемый остаток, диапазон, красная зона, значки платежей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«Что если»: клиент заплатит на 3 недели позже</a:t>
            </a:r>
            <a:endParaRPr lang="en-US" sz="2600" dirty="0"/>
          </a:p>
        </p:txBody>
      </p:sp>
      <p:sp>
        <p:nvSpPr>
          <p:cNvPr id="3" name="scenario screenshot frame"/>
          <p:cNvSpPr/>
          <p:nvPr/>
        </p:nvSpPr>
        <p:spPr>
          <a:xfrm>
            <a:off x="457200" y="1151951"/>
            <a:ext cx="5852160" cy="3411098"/>
          </a:xfrm>
          <a:prstGeom prst="roundRect">
            <a:avLst>
              <a:gd name="adj" fmla="val 21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enario screenshot" descr="/Users/alex/Documents/HAKATON/cashflow/docs/screenshots/03_scenario_delay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25103"/>
            <a:ext cx="5705856" cy="3264794"/>
          </a:xfrm>
          <a:prstGeom prst="rect">
            <a:avLst/>
          </a:prstGeom>
        </p:spPr>
      </p:pic>
      <p:sp>
        <p:nvSpPr>
          <p:cNvPr id="5" name="scenario circle"/>
          <p:cNvSpPr/>
          <p:nvPr/>
        </p:nvSpPr>
        <p:spPr>
          <a:xfrm>
            <a:off x="6583680" y="10972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scenario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1223010"/>
            <a:ext cx="251460" cy="251460"/>
          </a:xfrm>
          <a:prstGeom prst="rect">
            <a:avLst/>
          </a:prstGeom>
        </p:spPr>
      </p:pic>
      <p:sp>
        <p:nvSpPr>
          <p:cNvPr id="7" name="scenario title"/>
          <p:cNvSpPr txBox="1"/>
          <p:nvPr/>
        </p:nvSpPr>
        <p:spPr>
          <a:xfrm>
            <a:off x="65836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Четыре сценария</a:t>
            </a:r>
            <a:endParaRPr lang="en-US" sz="1500" dirty="0"/>
          </a:p>
        </p:txBody>
      </p:sp>
      <p:sp>
        <p:nvSpPr>
          <p:cNvPr id="8" name="scenario list"/>
          <p:cNvSpPr txBox="1"/>
          <p:nvPr/>
        </p:nvSpPr>
        <p:spPr>
          <a:xfrm>
            <a:off x="6583680" y="2103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клиент платит позже на 2–4 недели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выручка ниже на 10–30%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внеплановый расход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рост постоянных расходов</a:t>
            </a:r>
            <a:endParaRPr lang="en-US" sz="1200" dirty="0"/>
          </a:p>
        </p:txBody>
      </p:sp>
      <p:sp>
        <p:nvSpPr>
          <p:cNvPr id="9" name="scenario note"/>
          <p:cNvSpPr txBox="1"/>
          <p:nvPr/>
        </p:nvSpPr>
        <p:spPr>
          <a:xfrm>
            <a:off x="6583680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Обычный и негативный прогноз — на одном графике, результат — одной фразой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План-факт и источники: прогноз живой</a:t>
            </a:r>
            <a:endParaRPr lang="en-US" sz="2600" dirty="0"/>
          </a:p>
        </p:txBody>
      </p:sp>
      <p:sp>
        <p:nvSpPr>
          <p:cNvPr id="3" name="plan fact screenshot frame"/>
          <p:cNvSpPr/>
          <p:nvPr/>
        </p:nvSpPr>
        <p:spPr>
          <a:xfrm>
            <a:off x="457200" y="1330452"/>
            <a:ext cx="4023360" cy="3054096"/>
          </a:xfrm>
          <a:prstGeom prst="roundRect">
            <a:avLst>
              <a:gd name="adj" fmla="val 239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plan fact screenshot" descr="/Users/alex/Documents/HAKATON/cashflow/docs/screenshots/04_plan_fact.png">    </p:cNvPr>
          <p:cNvPicPr>
            <a:picLocks noChangeAspect="1"/>
          </p:cNvPicPr>
          <p:nvPr/>
        </p:nvPicPr>
        <p:blipFill>
          <a:blip r:embed="rId1"/>
          <a:srcRect l="0" r="0" t="0" b="30052"/>
          <a:stretch/>
        </p:blipFill>
        <p:spPr>
          <a:xfrm>
            <a:off x="530352" y="1403604"/>
            <a:ext cx="3877056" cy="2907792"/>
          </a:xfrm>
          <a:prstGeom prst="rect">
            <a:avLst/>
          </a:prstGeom>
        </p:spPr>
      </p:pic>
      <p:sp>
        <p:nvSpPr>
          <p:cNvPr id="5" name="events screenshot frame"/>
          <p:cNvSpPr/>
          <p:nvPr/>
        </p:nvSpPr>
        <p:spPr>
          <a:xfrm>
            <a:off x="4663440" y="1024128"/>
            <a:ext cx="4023360" cy="2569464"/>
          </a:xfrm>
          <a:prstGeom prst="roundRect">
            <a:avLst>
              <a:gd name="adj" fmla="val 284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events screenshot" descr="/Users/alex/Documents/HAKATON/cashflow/docs/screenshots/05_ev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097280"/>
            <a:ext cx="3877056" cy="2423160"/>
          </a:xfrm>
          <a:prstGeom prst="rect">
            <a:avLst/>
          </a:prstGeom>
        </p:spPr>
      </p:pic>
      <p:sp>
        <p:nvSpPr>
          <p:cNvPr id="7" name="plan fact note"/>
          <p:cNvSpPr txBox="1"/>
          <p:nvPr/>
        </p:nvSpPr>
        <p:spPr>
          <a:xfrm>
            <a:off x="466344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Ожидаемый платёж не пришёл → счёт помечен «просрочен» → прогноз пересчитан. Каждое событие подписано источником.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Источники данных: каждый добавляет точность</a:t>
            </a:r>
            <a:endParaRPr lang="en-US" sz="2600" dirty="0"/>
          </a:p>
        </p:txBody>
      </p:sp>
      <p:sp>
        <p:nvSpPr>
          <p:cNvPr id="3" name="source 0 circle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sourc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65860"/>
            <a:ext cx="228600" cy="228600"/>
          </a:xfrm>
          <a:prstGeom prst="rect">
            <a:avLst/>
          </a:prstGeom>
        </p:spPr>
      </p:pic>
      <p:sp>
        <p:nvSpPr>
          <p:cNvPr id="5" name="source name 0"/>
          <p:cNvSpPr txBox="1"/>
          <p:nvPr/>
        </p:nvSpPr>
        <p:spPr>
          <a:xfrm>
            <a:off x="1051560" y="1051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Банк</a:t>
            </a:r>
            <a:endParaRPr lang="en-US" sz="1300" dirty="0"/>
          </a:p>
        </p:txBody>
      </p:sp>
      <p:sp>
        <p:nvSpPr>
          <p:cNvPr id="6" name="source text 0"/>
          <p:cNvSpPr txBox="1"/>
          <p:nvPr/>
        </p:nvSpPr>
        <p:spPr>
          <a:xfrm>
            <a:off x="1051560" y="1298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история, регулярные платежи, графики кредитов, подписанные платёжки</a:t>
            </a:r>
            <a:endParaRPr lang="en-US" sz="1100" dirty="0"/>
          </a:p>
        </p:txBody>
      </p:sp>
      <p:sp>
        <p:nvSpPr>
          <p:cNvPr id="7" name="source 1 circle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sourc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97380"/>
            <a:ext cx="228600" cy="228600"/>
          </a:xfrm>
          <a:prstGeom prst="rect">
            <a:avLst/>
          </a:prstGeom>
        </p:spPr>
      </p:pic>
      <p:sp>
        <p:nvSpPr>
          <p:cNvPr id="9" name="source name 1"/>
          <p:cNvSpPr txBox="1"/>
          <p:nvPr/>
        </p:nvSpPr>
        <p:spPr>
          <a:xfrm>
            <a:off x="1051560" y="17830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1С</a:t>
            </a:r>
            <a:endParaRPr lang="en-US" sz="1300" dirty="0"/>
          </a:p>
        </p:txBody>
      </p:sp>
      <p:sp>
        <p:nvSpPr>
          <p:cNvPr id="10" name="source text 1"/>
          <p:cNvSpPr txBox="1"/>
          <p:nvPr/>
        </p:nvSpPr>
        <p:spPr>
          <a:xfrm>
            <a:off x="105156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счета, договоры, зарплатные ведомости, просрочки</a:t>
            </a:r>
            <a:endParaRPr lang="en-US" sz="1100" dirty="0"/>
          </a:p>
        </p:txBody>
      </p:sp>
      <p:sp>
        <p:nvSpPr>
          <p:cNvPr id="11" name="source 2 circle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ourc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8900"/>
            <a:ext cx="228600" cy="228600"/>
          </a:xfrm>
          <a:prstGeom prst="rect">
            <a:avLst/>
          </a:prstGeom>
        </p:spPr>
      </p:pic>
      <p:sp>
        <p:nvSpPr>
          <p:cNvPr id="13" name="source name 2"/>
          <p:cNvSpPr txBox="1"/>
          <p:nvPr/>
        </p:nvSpPr>
        <p:spPr>
          <a:xfrm>
            <a:off x="1051560" y="2514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Налоговый календарь</a:t>
            </a:r>
            <a:endParaRPr lang="en-US" sz="1300" dirty="0"/>
          </a:p>
        </p:txBody>
      </p:sp>
      <p:sp>
        <p:nvSpPr>
          <p:cNvPr id="14" name="source text 2"/>
          <p:cNvSpPr txBox="1"/>
          <p:nvPr/>
        </p:nvSpPr>
        <p:spPr>
          <a:xfrm>
            <a:off x="105156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ЕНП 28-го, УСН, НДС; режим оцениваем по выписке, ошибка суммы ЕНП ≈ 6%</a:t>
            </a:r>
            <a:endParaRPr lang="en-US" sz="1100" dirty="0"/>
          </a:p>
        </p:txBody>
      </p:sp>
      <p:sp>
        <p:nvSpPr>
          <p:cNvPr id="15" name="source 3 circle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sourc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60420"/>
            <a:ext cx="228600" cy="228600"/>
          </a:xfrm>
          <a:prstGeom prst="rect">
            <a:avLst/>
          </a:prstGeom>
        </p:spPr>
      </p:pic>
      <p:sp>
        <p:nvSpPr>
          <p:cNvPr id="17" name="source name 3"/>
          <p:cNvSpPr txBox="1"/>
          <p:nvPr/>
        </p:nvSpPr>
        <p:spPr>
          <a:xfrm>
            <a:off x="1051560" y="32461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Открытые реестры</a:t>
            </a:r>
            <a:endParaRPr lang="en-US" sz="1300" dirty="0"/>
          </a:p>
        </p:txBody>
      </p:sp>
      <p:sp>
        <p:nvSpPr>
          <p:cNvPr id="18" name="source text 3"/>
          <p:cNvSpPr txBox="1"/>
          <p:nvPr/>
        </p:nvSpPr>
        <p:spPr>
          <a:xfrm>
            <a:off x="1051560" y="3493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долги, арбитраж, ФССП контрагента → вероятность задержки оплаты</a:t>
            </a:r>
            <a:endParaRPr lang="en-US" sz="1100" dirty="0"/>
          </a:p>
        </p:txBody>
      </p:sp>
      <p:sp>
        <p:nvSpPr>
          <p:cNvPr id="19" name="source 4 circle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sourc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1940"/>
            <a:ext cx="228600" cy="228600"/>
          </a:xfrm>
          <a:prstGeom prst="rect">
            <a:avLst/>
          </a:prstGeom>
        </p:spPr>
      </p:pic>
      <p:sp>
        <p:nvSpPr>
          <p:cNvPr id="21" name="source name 4"/>
          <p:cNvSpPr txBox="1"/>
          <p:nvPr/>
        </p:nvSpPr>
        <p:spPr>
          <a:xfrm>
            <a:off x="1051560" y="3977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Ручной ввод</a:t>
            </a:r>
            <a:endParaRPr lang="en-US" sz="1300" dirty="0"/>
          </a:p>
        </p:txBody>
      </p:sp>
      <p:sp>
        <p:nvSpPr>
          <p:cNvPr id="22" name="source text 4"/>
          <p:cNvSpPr txBox="1"/>
          <p:nvPr/>
        </p:nvSpPr>
        <p:spPr>
          <a:xfrm>
            <a:off x="1051560" y="4224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«клиент обещал заплатить» — форма или фраза</a:t>
            </a:r>
            <a:endParaRPr lang="en-US" sz="1100" dirty="0"/>
          </a:p>
        </p:txBody>
      </p:sp>
      <p:graphicFrame>
        <p:nvGraphicFramePr>
          <p:cNvPr id="23" name="sources chart" descr=""/>
          <p:cNvGraphicFramePr/>
          <p:nvPr/>
        </p:nvGraphicFramePr>
        <p:xfrm>
          <a:off x="4480560" y="100584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ources takeaway"/>
          <p:cNvSpPr txBox="1"/>
          <p:nvPr/>
        </p:nvSpPr>
        <p:spPr>
          <a:xfrm>
            <a:off x="448056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Только по выписке разрыв 5 ноября не виден (вероятность 18%). С 1С и реестрами — найден, вероятность 75%.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Как строим прогноз</a:t>
            </a:r>
            <a:endParaRPr lang="en-US" sz="2600" dirty="0"/>
          </a:p>
        </p:txBody>
      </p:sp>
      <p:sp>
        <p:nvSpPr>
          <p:cNvPr id="3" name="pipe card 0"/>
          <p:cNvSpPr/>
          <p:nvPr/>
        </p:nvSpPr>
        <p:spPr>
          <a:xfrm>
            <a:off x="457200" y="1188720"/>
            <a:ext cx="1536192" cy="219456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4" name="pipe 0 circle"/>
          <p:cNvSpPr/>
          <p:nvPr/>
        </p:nvSpPr>
        <p:spPr>
          <a:xfrm>
            <a:off x="950976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ip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508760"/>
            <a:ext cx="274320" cy="274320"/>
          </a:xfrm>
          <a:prstGeom prst="rect">
            <a:avLst/>
          </a:prstGeom>
        </p:spPr>
      </p:pic>
      <p:sp>
        <p:nvSpPr>
          <p:cNvPr id="6" name="pipe title 0"/>
          <p:cNvSpPr txBox="1"/>
          <p:nvPr/>
        </p:nvSpPr>
        <p:spPr>
          <a:xfrm>
            <a:off x="548640" y="20116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Выписка</a:t>
            </a:r>
            <a:endParaRPr lang="en-US" sz="1300" dirty="0"/>
          </a:p>
        </p:txBody>
      </p:sp>
      <p:sp>
        <p:nvSpPr>
          <p:cNvPr id="7" name="pipe text 0"/>
          <p:cNvSpPr txBox="1"/>
          <p:nvPr/>
        </p:nvSpPr>
        <p:spPr>
          <a:xfrm>
            <a:off x="566928" y="237744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чистка: дубли, пропуски, BOM, ИНН строкой</a:t>
            </a:r>
            <a:endParaRPr lang="en-US" sz="1100" dirty="0"/>
          </a:p>
        </p:txBody>
      </p:sp>
      <p:sp>
        <p:nvSpPr>
          <p:cNvPr id="8" name="pipe card 1"/>
          <p:cNvSpPr/>
          <p:nvPr/>
        </p:nvSpPr>
        <p:spPr>
          <a:xfrm>
            <a:off x="2130552" y="1188720"/>
            <a:ext cx="1536192" cy="219456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9" name="pipe 1 circle"/>
          <p:cNvSpPr/>
          <p:nvPr/>
        </p:nvSpPr>
        <p:spPr>
          <a:xfrm>
            <a:off x="2624328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ip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508760"/>
            <a:ext cx="274320" cy="274320"/>
          </a:xfrm>
          <a:prstGeom prst="rect">
            <a:avLst/>
          </a:prstGeom>
        </p:spPr>
      </p:pic>
      <p:sp>
        <p:nvSpPr>
          <p:cNvPr id="11" name="pipe title 1"/>
          <p:cNvSpPr txBox="1"/>
          <p:nvPr/>
        </p:nvSpPr>
        <p:spPr>
          <a:xfrm>
            <a:off x="2221992" y="20116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Категории</a:t>
            </a:r>
            <a:endParaRPr lang="en-US" sz="1300" dirty="0"/>
          </a:p>
        </p:txBody>
      </p:sp>
      <p:sp>
        <p:nvSpPr>
          <p:cNvPr id="12" name="pipe text 1"/>
          <p:cNvSpPr txBox="1"/>
          <p:nvPr/>
        </p:nvSpPr>
        <p:spPr>
          <a:xfrm>
            <a:off x="2240280" y="237744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правила + память контрагента + ML</a:t>
            </a:r>
            <a:endParaRPr lang="en-US" sz="1100" dirty="0"/>
          </a:p>
        </p:txBody>
      </p:sp>
      <p:sp>
        <p:nvSpPr>
          <p:cNvPr id="13" name="pipe card 2"/>
          <p:cNvSpPr/>
          <p:nvPr/>
        </p:nvSpPr>
        <p:spPr>
          <a:xfrm>
            <a:off x="3803904" y="1188720"/>
            <a:ext cx="1536192" cy="219456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14" name="pipe 2 circle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ip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08760"/>
            <a:ext cx="274320" cy="274320"/>
          </a:xfrm>
          <a:prstGeom prst="rect">
            <a:avLst/>
          </a:prstGeom>
        </p:spPr>
      </p:pic>
      <p:sp>
        <p:nvSpPr>
          <p:cNvPr id="16" name="pipe title 2"/>
          <p:cNvSpPr txBox="1"/>
          <p:nvPr/>
        </p:nvSpPr>
        <p:spPr>
          <a:xfrm>
            <a:off x="3895344" y="20116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Регулярные платежи</a:t>
            </a:r>
            <a:endParaRPr lang="en-US" sz="1300" dirty="0"/>
          </a:p>
        </p:txBody>
      </p:sp>
      <p:sp>
        <p:nvSpPr>
          <p:cNvPr id="17" name="pipe text 2"/>
          <p:cNvSpPr txBox="1"/>
          <p:nvPr/>
        </p:nvSpPr>
        <p:spPr>
          <a:xfrm>
            <a:off x="3913632" y="237744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зарплата, аренда, ЕНП, кредиты; 74% приходят в ±3 дня</a:t>
            </a:r>
            <a:endParaRPr lang="en-US" sz="1100" dirty="0"/>
          </a:p>
        </p:txBody>
      </p:sp>
      <p:sp>
        <p:nvSpPr>
          <p:cNvPr id="18" name="pipe card 3"/>
          <p:cNvSpPr/>
          <p:nvPr/>
        </p:nvSpPr>
        <p:spPr>
          <a:xfrm>
            <a:off x="5477256" y="1188720"/>
            <a:ext cx="1536192" cy="219456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19" name="pipe 3 circle"/>
          <p:cNvSpPr/>
          <p:nvPr/>
        </p:nvSpPr>
        <p:spPr>
          <a:xfrm>
            <a:off x="5971032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ip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508760"/>
            <a:ext cx="274320" cy="274320"/>
          </a:xfrm>
          <a:prstGeom prst="rect">
            <a:avLst/>
          </a:prstGeom>
        </p:spPr>
      </p:pic>
      <p:sp>
        <p:nvSpPr>
          <p:cNvPr id="21" name="pipe title 3"/>
          <p:cNvSpPr txBox="1"/>
          <p:nvPr/>
        </p:nvSpPr>
        <p:spPr>
          <a:xfrm>
            <a:off x="5568696" y="20116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Монте-Карло</a:t>
            </a:r>
            <a:endParaRPr lang="en-US" sz="1300" dirty="0"/>
          </a:p>
        </p:txBody>
      </p:sp>
      <p:sp>
        <p:nvSpPr>
          <p:cNvPr id="22" name="pipe text 3"/>
          <p:cNvSpPr txBox="1"/>
          <p:nvPr/>
        </p:nvSpPr>
        <p:spPr>
          <a:xfrm>
            <a:off x="5586984" y="237744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2 000 вариантов будущего: задержки оплат, колебания выручки</a:t>
            </a:r>
            <a:endParaRPr lang="en-US" sz="1100" dirty="0"/>
          </a:p>
        </p:txBody>
      </p:sp>
      <p:sp>
        <p:nvSpPr>
          <p:cNvPr id="23" name="pipe card 4"/>
          <p:cNvSpPr/>
          <p:nvPr/>
        </p:nvSpPr>
        <p:spPr>
          <a:xfrm>
            <a:off x="7150608" y="1188720"/>
            <a:ext cx="1536192" cy="219456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24" name="pipe 4 circle"/>
          <p:cNvSpPr/>
          <p:nvPr/>
        </p:nvSpPr>
        <p:spPr>
          <a:xfrm>
            <a:off x="7644384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pip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508760"/>
            <a:ext cx="274320" cy="274320"/>
          </a:xfrm>
          <a:prstGeom prst="rect">
            <a:avLst/>
          </a:prstGeom>
        </p:spPr>
      </p:pic>
      <p:sp>
        <p:nvSpPr>
          <p:cNvPr id="26" name="pipe title 4"/>
          <p:cNvSpPr txBox="1"/>
          <p:nvPr/>
        </p:nvSpPr>
        <p:spPr>
          <a:xfrm>
            <a:off x="7242048" y="20116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Риски</a:t>
            </a:r>
            <a:endParaRPr lang="en-US" sz="1300" dirty="0"/>
          </a:p>
        </p:txBody>
      </p:sp>
      <p:sp>
        <p:nvSpPr>
          <p:cNvPr id="27" name="pipe text 4"/>
          <p:cNvSpPr txBox="1"/>
          <p:nvPr/>
        </p:nvSpPr>
        <p:spPr>
          <a:xfrm>
            <a:off x="7260336" y="237744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дата, сумма, вероятность, причина и действия</a:t>
            </a:r>
            <a:endParaRPr lang="en-US" sz="1100" dirty="0"/>
          </a:p>
        </p:txBody>
      </p:sp>
      <p:sp>
        <p:nvSpPr>
          <p:cNvPr id="28" name="pipe result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Результат: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остаток по дням — ожидаемый (P50) и возможный диапазон (P10–P90). Два вида риска: разрыв ниже 0 ₽ и остаток ниже комфортного минимума владельца. Новые операции обновляют прогноз без полного пересчёта (~0,05 с).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Проверка качества: честный бэктест</a:t>
            </a:r>
            <a:endParaRPr lang="en-US" sz="2600" dirty="0"/>
          </a:p>
        </p:txBody>
      </p:sp>
      <p:sp>
        <p:nvSpPr>
          <p:cNvPr id="3" name="mae value"/>
          <p:cNvSpPr txBox="1"/>
          <p:nvPr/>
        </p:nvSpPr>
        <p:spPr>
          <a:xfrm>
            <a:off x="457200" y="1051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16%</a:t>
            </a:r>
            <a:endParaRPr lang="en-US" sz="4000" dirty="0"/>
          </a:p>
        </p:txBody>
      </p:sp>
      <p:sp>
        <p:nvSpPr>
          <p:cNvPr id="4" name="mae label"/>
          <p:cNvSpPr txBox="1"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ошибка остатка на 30 дней; у наивной модели 21%</a:t>
            </a:r>
            <a:endParaRPr lang="en-US" sz="1200" dirty="0"/>
          </a:p>
        </p:txBody>
      </p:sp>
      <p:sp>
        <p:nvSpPr>
          <p:cNvPr id="5" name="coverage value"/>
          <p:cNvSpPr txBox="1"/>
          <p:nvPr/>
        </p:nvSpPr>
        <p:spPr>
          <a:xfrm>
            <a:off x="457200" y="2240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80%</a:t>
            </a:r>
            <a:endParaRPr lang="en-US" sz="4000" dirty="0"/>
          </a:p>
        </p:txBody>
      </p:sp>
      <p:sp>
        <p:nvSpPr>
          <p:cNvPr id="6" name="coverage label"/>
          <p:cNvSpPr txBox="1"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дней факт внутри «возможного диапазона»</a:t>
            </a:r>
            <a:endParaRPr lang="en-US" sz="1200" dirty="0"/>
          </a:p>
        </p:txBody>
      </p:sp>
      <p:sp>
        <p:nvSpPr>
          <p:cNvPr id="7" name="recall value"/>
          <p:cNvSpPr txBox="1"/>
          <p:nvPr/>
        </p:nvSpPr>
        <p:spPr>
          <a:xfrm>
            <a:off x="45720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72%</a:t>
            </a:r>
            <a:endParaRPr lang="en-US" sz="4000" dirty="0"/>
          </a:p>
        </p:txBody>
      </p:sp>
      <p:sp>
        <p:nvSpPr>
          <p:cNvPr id="8" name="recall label"/>
          <p:cNvSpPr txBox="1"/>
          <p:nvPr/>
        </p:nvSpPr>
        <p:spPr>
          <a:xfrm>
            <a:off x="45720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реальных разрывов найдено, в среднем за 14 дней</a:t>
            </a:r>
            <a:endParaRPr lang="en-US" sz="1200" dirty="0"/>
          </a:p>
        </p:txBody>
      </p:sp>
      <p:graphicFrame>
        <p:nvGraphicFramePr>
          <p:cNvPr id="9" name="models chart" descr=""/>
          <p:cNvGraphicFramePr/>
          <p:nvPr/>
        </p:nvGraphicFramePr>
        <p:xfrm>
          <a:off x="3383280" y="100584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method card"/>
          <p:cNvSpPr/>
          <p:nvPr/>
        </p:nvSpPr>
        <p:spPr>
          <a:xfrm>
            <a:off x="3383280" y="3749040"/>
            <a:ext cx="53035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1" name="method text"/>
          <p:cNvSpPr txBox="1"/>
          <p:nvPr/>
        </p:nvSpPr>
        <p:spPr>
          <a:xfrm>
            <a:off x="3520440" y="38130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150 компаний организаторов разделены на dev и holdout. Параметры подбирали только на dev; цифры — только holdout: 73 компании, 542 прогноза на модель, rolling origin, 8 отсечек × 30 дней.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Архитектура решения</a:t>
            </a:r>
            <a:endParaRPr lang="en-US" sz="2600" dirty="0"/>
          </a:p>
        </p:txBody>
      </p:sp>
      <p:pic>
        <p:nvPicPr>
          <p:cNvPr id="3" name="architecture diagram" descr="/Users/alex/Documents/HAKATON/cashflow/docs/architectur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807" y="1005840"/>
            <a:ext cx="5388386" cy="3154680"/>
          </a:xfrm>
          <a:prstGeom prst="rect">
            <a:avLst/>
          </a:prstGeom>
        </p:spPr>
      </p:pic>
      <p:sp>
        <p:nvSpPr>
          <p:cNvPr id="4" name="architecture caption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web (React) → API (FastAPI, JWT, SQLite, интеграции) → ядро cashflow_core (Python). Контракт JSON — общий для всех частей.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Безопасность данных клиента</a:t>
            </a:r>
            <a:endParaRPr lang="en-US" sz="2600" dirty="0"/>
          </a:p>
        </p:txBody>
      </p:sp>
      <p:sp>
        <p:nvSpPr>
          <p:cNvPr id="3" name="security card 0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security 0 circl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curity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security title 0"/>
          <p:cNvSpPr txBox="1"/>
          <p:nvPr/>
        </p:nvSpPr>
        <p:spPr>
          <a:xfrm>
            <a:off x="1417320" y="1353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Вход и токены</a:t>
            </a:r>
            <a:endParaRPr lang="en-US" sz="1500" dirty="0"/>
          </a:p>
        </p:txBody>
      </p:sp>
      <p:sp>
        <p:nvSpPr>
          <p:cNvPr id="7" name="security text 0"/>
          <p:cNvSpPr txBox="1"/>
          <p:nvPr/>
        </p:nvSpPr>
        <p:spPr>
          <a:xfrm>
            <a:off x="1417320" y="171907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JWT на каждом запросе, пароли — PBKDF2-SHA256, одинаковое время ответа на неверный логин</a:t>
            </a:r>
            <a:endParaRPr lang="en-US" sz="1200" dirty="0"/>
          </a:p>
        </p:txBody>
      </p:sp>
      <p:sp>
        <p:nvSpPr>
          <p:cNvPr id="8" name="security card 1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security 1 circle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ecurity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274320" cy="274320"/>
          </a:xfrm>
          <a:prstGeom prst="rect">
            <a:avLst/>
          </a:prstGeom>
        </p:spPr>
      </p:pic>
      <p:sp>
        <p:nvSpPr>
          <p:cNvPr id="11" name="security title 1"/>
          <p:cNvSpPr txBox="1"/>
          <p:nvPr/>
        </p:nvSpPr>
        <p:spPr>
          <a:xfrm>
            <a:off x="5623560" y="1353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Изоляция</a:t>
            </a:r>
            <a:endParaRPr lang="en-US" sz="1500" dirty="0"/>
          </a:p>
        </p:txBody>
      </p:sp>
      <p:sp>
        <p:nvSpPr>
          <p:cNvPr id="12" name="security text 1"/>
          <p:cNvSpPr txBox="1"/>
          <p:nvPr/>
        </p:nvSpPr>
        <p:spPr>
          <a:xfrm>
            <a:off x="5623560" y="171907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один пользователь — одна компания; чужие данные — 403</a:t>
            </a:r>
            <a:endParaRPr lang="en-US" sz="1200" dirty="0"/>
          </a:p>
        </p:txBody>
      </p:sp>
      <p:sp>
        <p:nvSpPr>
          <p:cNvPr id="13" name="security card 2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security 2 circle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ecurity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274320" cy="274320"/>
          </a:xfrm>
          <a:prstGeom prst="rect">
            <a:avLst/>
          </a:prstGeom>
        </p:spPr>
      </p:pic>
      <p:sp>
        <p:nvSpPr>
          <p:cNvPr id="16" name="security title 2"/>
          <p:cNvSpPr txBox="1"/>
          <p:nvPr/>
        </p:nvSpPr>
        <p:spPr>
          <a:xfrm>
            <a:off x="1417320" y="3090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Логи без тайн</a:t>
            </a:r>
            <a:endParaRPr lang="en-US" sz="1500" dirty="0"/>
          </a:p>
        </p:txBody>
      </p:sp>
      <p:sp>
        <p:nvSpPr>
          <p:cNvPr id="17" name="security text 2"/>
          <p:cNvSpPr txBox="1"/>
          <p:nvPr/>
        </p:nvSpPr>
        <p:spPr>
          <a:xfrm>
            <a:off x="1417320" y="345643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фильтр маскирует ИНН, суммы, названия и e-mail; тела запросов не пишутся</a:t>
            </a:r>
            <a:endParaRPr lang="en-US" sz="1200" dirty="0"/>
          </a:p>
        </p:txBody>
      </p:sp>
      <p:sp>
        <p:nvSpPr>
          <p:cNvPr id="18" name="security card 3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security 3 circle"/>
          <p:cNvSpPr/>
          <p:nvPr/>
        </p:nvSpPr>
        <p:spPr>
          <a:xfrm>
            <a:off x="4892040" y="3108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security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274320" cy="274320"/>
          </a:xfrm>
          <a:prstGeom prst="rect">
            <a:avLst/>
          </a:prstGeom>
        </p:spPr>
      </p:pic>
      <p:sp>
        <p:nvSpPr>
          <p:cNvPr id="21" name="security title 3"/>
          <p:cNvSpPr txBox="1"/>
          <p:nvPr/>
        </p:nvSpPr>
        <p:spPr>
          <a:xfrm>
            <a:off x="5623560" y="3090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Загрузка</a:t>
            </a:r>
            <a:endParaRPr lang="en-US" sz="1500" dirty="0"/>
          </a:p>
        </p:txBody>
      </p:sp>
      <p:sp>
        <p:nvSpPr>
          <p:cNvPr id="22" name="security text 3"/>
          <p:cNvSpPr txBox="1"/>
          <p:nvPr/>
        </p:nvSpPr>
        <p:spPr>
          <a:xfrm>
            <a:off x="5623560" y="345643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лимит размера и проверка формата до разбора; выписка не хранится в браузере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Сверх базового прогноза и что дальше</a:t>
            </a:r>
            <a:endParaRPr lang="en-US" sz="2600" dirty="0"/>
          </a:p>
        </p:txBody>
      </p:sp>
      <p:sp>
        <p:nvSpPr>
          <p:cNvPr id="3" name="done card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</p:sp>
      <p:sp>
        <p:nvSpPr>
          <p:cNvPr id="4" name="done title"/>
          <p:cNvSpPr txBox="1"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Реализовано</a:t>
            </a:r>
            <a:endParaRPr lang="en-US" sz="1600" dirty="0"/>
          </a:p>
        </p:txBody>
      </p:sp>
      <p:sp>
        <p:nvSpPr>
          <p:cNvPr id="5" name="done list"/>
          <p:cNvSpPr txBox="1"/>
          <p:nvPr/>
        </p:nvSpPr>
        <p:spPr>
          <a:xfrm>
            <a:off x="68580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 источников данных с единым форматом событий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«Что если» по 4 сценариям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План-факт с пересчётом прогноза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Быстрое обновление без пересчёта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Ручной ввод обычной фразой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Пакетный прогноз: 150 компаний за 85 с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Интерфейс для телефона</a:t>
            </a:r>
            <a:endParaRPr lang="en-US" sz="1300" dirty="0"/>
          </a:p>
        </p:txBody>
      </p:sp>
      <p:sp>
        <p:nvSpPr>
          <p:cNvPr id="6" name="mobile screenshot frame"/>
          <p:cNvSpPr/>
          <p:nvPr/>
        </p:nvSpPr>
        <p:spPr>
          <a:xfrm>
            <a:off x="4663440" y="1138827"/>
            <a:ext cx="1645920" cy="3391627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mobile screenshot" descr="/Users/alex/Documents/HAKATON/cashflow/docs/screenshots/09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211979"/>
            <a:ext cx="1499616" cy="3245323"/>
          </a:xfrm>
          <a:prstGeom prst="rect">
            <a:avLst/>
          </a:prstGeom>
        </p:spPr>
      </p:pic>
      <p:sp>
        <p:nvSpPr>
          <p:cNvPr id="8" name="next title"/>
          <p:cNvSpPr txBox="1"/>
          <p:nvPr/>
        </p:nvSpPr>
        <p:spPr>
          <a:xfrm>
            <a:off x="6537960" y="1188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Дальше</a:t>
            </a:r>
            <a:endParaRPr lang="en-US" sz="1600" dirty="0"/>
          </a:p>
        </p:txBody>
      </p:sp>
      <p:sp>
        <p:nvSpPr>
          <p:cNvPr id="9" name="next list"/>
          <p:cNvSpPr txBox="1"/>
          <p:nvPr/>
        </p:nvSpPr>
        <p:spPr>
          <a:xfrm>
            <a:off x="6537960" y="160020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Виджет в интернет-банке: выписка уже в банке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Уведомление за 2 недели до разрыва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Овердрафт прямо из предупреждения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Реальные API 1С и ФНС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Предупреждаем о разрыве заранее и говорим, что делать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2D6"/>
                </a:solidFill>
              </a:rPr>
              <a:t>30+ дней прогноза по дням · дата, сумма и вероятность разрыва · 16% ошибки против 21% у наивной модели · разрыв S02 найден за 13 дней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енежный прогноз">
  <a:themeElements>
    <a:clrScheme name="Денежный прогноз">
      <a:dk1>
        <a:srgbClr val="13241C"/>
      </a:dk1>
      <a:lt1>
        <a:srgbClr val="FFFFFF"/>
      </a:lt1>
      <a:dk2>
        <a:srgbClr val="0B3D2E"/>
      </a:dk2>
      <a:lt2>
        <a:srgbClr val="F3F6F1"/>
      </a:lt2>
      <a:accent1>
        <a:srgbClr val="8DC63F"/>
      </a:accent1>
      <a:accent2>
        <a:srgbClr val="11553F"/>
      </a:accent2>
      <a:accent3>
        <a:srgbClr val="D23B3B"/>
      </a:accent3>
      <a:accent4>
        <a:srgbClr val="D98A00"/>
      </a:accent4>
      <a:accent5>
        <a:srgbClr val="2F6FB3"/>
      </a:accent5>
      <a:accent6>
        <a:srgbClr val="7A8A80"/>
      </a:accent6>
      <a:hlink>
        <a:srgbClr val="11553F"/>
      </a:hlink>
      <a:folHlink>
        <a:srgbClr val="6FA62A"/>
      </a:folHlink>
    </a:clrScheme>
    <a:fontScheme name="Денежный прогноз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Денежный прогноз — прогноз остатка и кассовых разрывов для малого бизнеса</dc:title>
  <dc:subject>PptxGenJS Presentation</dc:subject>
  <dc:creator>Команда «Денежный прогноз»</dc:creator>
  <cp:lastModifiedBy>Команда «Денежный прогноз»</cp:lastModifiedBy>
  <cp:revision>1</cp:revision>
  <dcterms:created xsi:type="dcterms:W3CDTF">2026-10-23T22:54:42Z</dcterms:created>
  <dcterms:modified xsi:type="dcterms:W3CDTF">2026-10-23T22:54:42Z</dcterms:modified>
</cp:coreProperties>
</file>