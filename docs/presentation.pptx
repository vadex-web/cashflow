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3a771a77-9f80-1e77-f8a4-6de4d317a5af}">
          <p14:sldIdLst>
            <p14:sldId id="256"/>
          </p14:sldIdLst>
        </p14:section>
        <p14:section name="Проблема и решение" id="{8ac53212-6f00-6ca1-0ac0-8aeba547b420}">
          <p14:sldIdLst>
            <p14:sldId id="257"/>
            <p14:sldId id="258"/>
          </p14:sldIdLst>
        </p14:section>
        <p14:section name="Демо" id="{ad4820c9-c26e-d468-798f-0a164a562a04}">
          <p14:sldIdLst>
            <p14:sldId id="259"/>
            <p14:sldId id="260"/>
          </p14:sldIdLst>
        </p14:section>
        <p14:section name="Данные и подход" id="{35d6067a-6621-7610-7d7c-c6635c96748b}">
          <p14:sldIdLst>
            <p14:sldId id="261"/>
            <p14:sldId id="262"/>
            <p14:sldId id="263"/>
          </p14:sldIdLst>
        </p14:section>
        <p14:section name="Архитектура" id="{ffb43f46-79f2-96e8-ac7a-cc89781266bf}">
          <p14:sldIdLst>
            <p14:sldId id="264"/>
          </p14:sldIdLst>
        </p14:section>
        <p14:section name="Итоги" id="{35561921-db74-ff72-30ab-781e8fc4109a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Малый бизнес часто закрывается не из-за убытков, а потому что в нужный день на счёте нет денег. Мы сделали сервис, который заранее говорит: когда не хватит, сколько и что сделать.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(25 с): Это реальная выписка из датасета организаторов. IT-компания, прибыльная. 16 сентября на счёте 2,9 миллиона. В конце месяца налог и зарплата, клиент платит только 3 октября — и 1 октября на счёте минус 471 тысяча, банк берёт проценты за овердрафт.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(15 с): Прогноз остатка по дням на 30+ дней, разрыв с датой, суммой и вероятностью — понятно человеку без финансового образования, на главном экране.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Оператор (45 с): «Посмотреть демо» → загружаем выписку по 16 сентября (будущего сервис не видит) → подключаем налоговый календарь → главная. Ведущий: через 14 дней, 30 сентября, может не хватить 458 тысяч, вероятность 58%, и первое действие. На самом деле 30 сентября на счёте минус 381 тысяча, 1 октября — минус 472.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Оператор (30 с): «Что если»: клиент заплатит на три недели позже — нехватка вырастает до 910 тысяч. Ведущий: источники и ручной ввод меняют прогноз сразу — экран показывает «было → стало».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Это наша синтетическая компания с известным будущим (api/reports/sources_effect.md). Честно: работает частично — налоговый календарь считается по выписке, банк и 1С — на тестовых выгрузках, реестры — демонстрационная проверка по ИНН.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Модель объяснимая: каждая сумма в причине подписана источником. Прогноз детерминированный, работает без сети, на 150 компаниях — около 25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(25 с): Жюри сравнит прогноз с фактическим остатком, поэтому главный соперник — «остаток не изменится». Наш прогноз точнее у 61% компаний и по медиане ошибки, но по общему WAPE чуть хуже — это видно в core/reports/metrics.md. Разрывы: находим 61%, точность предупреждений 70%.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Три части по общему контракту. Запуск — одна команда docker compose с HTTPS; демо — в один клик, у каждого гостя своя копия компании, общие данные никто не испортит.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«Что если», план-факт и ручной ввод работают полностью; источники — частично, на тестовых выгрузках. Дальше — встроить в интернет-банк: выписка у банка уже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Спасибо!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2D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Денежный прогноз · хакатон Банка Центр-Инвест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217.144.184.234.sslip.io/" TargetMode="Externa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566928" cy="566928"/>
          </a:xfrm>
          <a:prstGeom prst="rect">
            <a:avLst/>
          </a:prstGeom>
        </p:spPr>
      </p:pic>
      <p:sp>
        <p:nvSpPr>
          <p:cNvPr id="3" name="event"/>
          <p:cNvSpPr txBox="1"/>
          <p:nvPr/>
        </p:nvSpPr>
        <p:spPr>
          <a:xfrm>
            <a:off x="1280160" y="685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7B5"/>
                </a:solidFill>
              </a:rPr>
              <a:t>Хакатон Банка Центр-Инвест · команда chikenbyrger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Денежный прогноз</a:t>
            </a:r>
            <a:endParaRPr lang="en-US" sz="3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2D6"/>
                </a:solidFill>
              </a:rPr>
              <a:t>Предупреждаем предпринимателя о кассовом разрыве заранее — и подсказываем, что сделать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Прибыльный бизнес, а на счёте −471 600 ₽</a:t>
            </a:r>
            <a:endParaRPr lang="en-US" sz="2600" dirty="0"/>
          </a:p>
        </p:txBody>
      </p:sp>
      <p:sp>
        <p:nvSpPr>
          <p:cNvPr id="3" name="persona card"/>
          <p:cNvSpPr/>
          <p:nvPr/>
        </p:nvSpPr>
        <p:spPr>
          <a:xfrm>
            <a:off x="457200" y="1097280"/>
            <a:ext cx="4023360" cy="352044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/>
        </p:spPr>
      </p:sp>
      <p:sp>
        <p:nvSpPr>
          <p:cNvPr id="4" name="persona circle"/>
          <p:cNvSpPr/>
          <p:nvPr/>
        </p:nvSpPr>
        <p:spPr>
          <a:xfrm>
            <a:off x="731520" y="13258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erson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63040"/>
            <a:ext cx="274320" cy="274320"/>
          </a:xfrm>
          <a:prstGeom prst="rect">
            <a:avLst/>
          </a:prstGeom>
        </p:spPr>
      </p:pic>
      <p:sp>
        <p:nvSpPr>
          <p:cNvPr id="6" name="persona name"/>
          <p:cNvSpPr txBox="1"/>
          <p:nvPr/>
        </p:nvSpPr>
        <p:spPr>
          <a:xfrm>
            <a:off x="141732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ООО «Софт-Решения-771»</a:t>
            </a:r>
            <a:endParaRPr lang="en-US" sz="1400" dirty="0"/>
          </a:p>
        </p:txBody>
      </p:sp>
      <p:sp>
        <p:nvSpPr>
          <p:cNvPr id="7" name="persona sub"/>
          <p:cNvSpPr txBox="1"/>
          <p:nvPr/>
        </p:nvSpPr>
        <p:spPr>
          <a:xfrm>
            <a:off x="1417320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разработка ПО · реальная выписка из датасета (C124)</a:t>
            </a:r>
            <a:endParaRPr lang="en-US" sz="1100" dirty="0"/>
          </a:p>
        </p:txBody>
      </p:sp>
      <p:sp>
        <p:nvSpPr>
          <p:cNvPr id="8" name="persona facts"/>
          <p:cNvSpPr txBox="1"/>
          <p:nvPr/>
        </p:nvSpPr>
        <p:spPr>
          <a:xfrm>
            <a:off x="731520" y="210312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16 сентября на счёте 2,9 млн 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29.09 — ЕНП 1,48 млн ₽, 30.09 — зарплата 2,48 млн 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клиент заплатил 1,27 млн ₽ только 3 октября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итог — овердрафт и проценты банку</a:t>
            </a:r>
            <a:endParaRPr lang="en-US" sz="1400" dirty="0"/>
          </a:p>
        </p:txBody>
      </p:sp>
      <p:sp>
        <p:nvSpPr>
          <p:cNvPr id="9" name="user circle"/>
          <p:cNvSpPr/>
          <p:nvPr/>
        </p:nvSpPr>
        <p:spPr>
          <a:xfrm>
            <a:off x="4846320" y="11887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use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25880"/>
            <a:ext cx="274320" cy="274320"/>
          </a:xfrm>
          <a:prstGeom prst="rect">
            <a:avLst/>
          </a:prstGeom>
        </p:spPr>
      </p:pic>
      <p:sp>
        <p:nvSpPr>
          <p:cNvPr id="11" name="user title"/>
          <p:cNvSpPr txBox="1"/>
          <p:nvPr/>
        </p:nvSpPr>
        <p:spPr>
          <a:xfrm>
            <a:off x="553212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Наш пользователь</a:t>
            </a:r>
            <a:endParaRPr lang="en-US" sz="1500" dirty="0"/>
          </a:p>
        </p:txBody>
      </p:sp>
      <p:sp>
        <p:nvSpPr>
          <p:cNvPr id="12" name="user text"/>
          <p:cNvSpPr txBox="1"/>
          <p:nvPr/>
        </p:nvSpPr>
        <p:spPr>
          <a:xfrm>
            <a:off x="5532120" y="15087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владелец малого бизнеса без финансового образования: ему нужна не таблица, а ответ — хватит денег или нет</a:t>
            </a:r>
            <a:endParaRPr lang="en-US" sz="1200" dirty="0"/>
          </a:p>
        </p:txBody>
      </p:sp>
      <p:sp>
        <p:nvSpPr>
          <p:cNvPr id="13" name="pain circle"/>
          <p:cNvSpPr/>
          <p:nvPr/>
        </p:nvSpPr>
        <p:spPr>
          <a:xfrm>
            <a:off x="4846320" y="26060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pai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743200"/>
            <a:ext cx="274320" cy="274320"/>
          </a:xfrm>
          <a:prstGeom prst="rect">
            <a:avLst/>
          </a:prstGeom>
        </p:spPr>
      </p:pic>
      <p:sp>
        <p:nvSpPr>
          <p:cNvPr id="15" name="pain title"/>
          <p:cNvSpPr txBox="1"/>
          <p:nvPr/>
        </p:nvSpPr>
        <p:spPr>
          <a:xfrm>
            <a:off x="55321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Почему так бывает</a:t>
            </a:r>
            <a:endParaRPr lang="en-US" sz="1500" dirty="0"/>
          </a:p>
        </p:txBody>
      </p:sp>
      <p:sp>
        <p:nvSpPr>
          <p:cNvPr id="16" name="pain text"/>
          <p:cNvSpPr txBox="1"/>
          <p:nvPr/>
        </p:nvSpPr>
        <p:spPr>
          <a:xfrm>
            <a:off x="5532120" y="29260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зарплата, налоги и аренда — по графику, а клиенты платят, когда платят; выписка показывает прошлое, а разрыв видно только в день платежа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Три ответа на одном экране</a:t>
            </a:r>
            <a:endParaRPr lang="en-US" sz="2600" dirty="0"/>
          </a:p>
        </p:txBody>
      </p:sp>
      <p:sp>
        <p:nvSpPr>
          <p:cNvPr id="3" name="solution 0 circle"/>
          <p:cNvSpPr/>
          <p:nvPr/>
        </p:nvSpPr>
        <p:spPr>
          <a:xfrm>
            <a:off x="457200" y="11430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" name="solution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268730"/>
            <a:ext cx="251460" cy="251460"/>
          </a:xfrm>
          <a:prstGeom prst="rect">
            <a:avLst/>
          </a:prstGeom>
        </p:spPr>
      </p:pic>
      <p:sp>
        <p:nvSpPr>
          <p:cNvPr id="5" name="solution title 0"/>
          <p:cNvSpPr txBox="1"/>
          <p:nvPr/>
        </p:nvSpPr>
        <p:spPr>
          <a:xfrm>
            <a:off x="1097280" y="1143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Хватит ли денег</a:t>
            </a:r>
            <a:endParaRPr lang="en-US" sz="1600" dirty="0"/>
          </a:p>
        </p:txBody>
      </p:sp>
      <p:sp>
        <p:nvSpPr>
          <p:cNvPr id="6" name="solution text 0"/>
          <p:cNvSpPr txBox="1"/>
          <p:nvPr/>
        </p:nvSpPr>
        <p:spPr>
          <a:xfrm>
            <a:off x="1097280" y="1453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цветная карточка риска и одна фраза: «через 14 дней, 30 сентября, дефицит составит 458 000 ₽»</a:t>
            </a:r>
            <a:endParaRPr lang="en-US" sz="1200" dirty="0"/>
          </a:p>
        </p:txBody>
      </p:sp>
      <p:sp>
        <p:nvSpPr>
          <p:cNvPr id="7" name="solution 1 circle"/>
          <p:cNvSpPr/>
          <p:nvPr/>
        </p:nvSpPr>
        <p:spPr>
          <a:xfrm>
            <a:off x="457200" y="2286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olution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411730"/>
            <a:ext cx="251460" cy="251460"/>
          </a:xfrm>
          <a:prstGeom prst="rect">
            <a:avLst/>
          </a:prstGeom>
        </p:spPr>
      </p:pic>
      <p:sp>
        <p:nvSpPr>
          <p:cNvPr id="9" name="solution title 1"/>
          <p:cNvSpPr txBox="1"/>
          <p:nvPr/>
        </p:nvSpPr>
        <p:spPr>
          <a:xfrm>
            <a:off x="109728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Когда и сколько</a:t>
            </a:r>
            <a:endParaRPr lang="en-US" sz="1600" dirty="0"/>
          </a:p>
        </p:txBody>
      </p:sp>
      <p:sp>
        <p:nvSpPr>
          <p:cNvPr id="10" name="solution text 1"/>
          <p:cNvSpPr txBox="1"/>
          <p:nvPr/>
        </p:nvSpPr>
        <p:spPr>
          <a:xfrm>
            <a:off x="1097280" y="2596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остаток по дням на 30+ дней: ожидаемый и возможный диапазон, дата, сумма и вероятность разрыва</a:t>
            </a:r>
            <a:endParaRPr lang="en-US" sz="1200" dirty="0"/>
          </a:p>
        </p:txBody>
      </p:sp>
      <p:sp>
        <p:nvSpPr>
          <p:cNvPr id="11" name="solution 2 circle"/>
          <p:cNvSpPr/>
          <p:nvPr/>
        </p:nvSpPr>
        <p:spPr>
          <a:xfrm>
            <a:off x="457200" y="3429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lution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3554730"/>
            <a:ext cx="251460" cy="251460"/>
          </a:xfrm>
          <a:prstGeom prst="rect">
            <a:avLst/>
          </a:prstGeom>
        </p:spPr>
      </p:pic>
      <p:sp>
        <p:nvSpPr>
          <p:cNvPr id="13" name="solution title 2"/>
          <p:cNvSpPr txBox="1"/>
          <p:nvPr/>
        </p:nvSpPr>
        <p:spPr>
          <a:xfrm>
            <a:off x="1097280" y="3429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делать</a:t>
            </a:r>
            <a:endParaRPr lang="en-US" sz="1600" dirty="0"/>
          </a:p>
        </p:txBody>
      </p:sp>
      <p:sp>
        <p:nvSpPr>
          <p:cNvPr id="14" name="solution text 2"/>
          <p:cNvSpPr txBox="1"/>
          <p:nvPr/>
        </p:nvSpPr>
        <p:spPr>
          <a:xfrm>
            <a:off x="1097280" y="3739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конкретное действие: «попросите ООО «Ритейл-381» оплатить до 30 сентября»</a:t>
            </a:r>
            <a:endParaRPr lang="en-US" sz="1200" dirty="0"/>
          </a:p>
        </p:txBody>
      </p:sp>
      <p:sp>
        <p:nvSpPr>
          <p:cNvPr id="15" name="risk card screenshot frame"/>
          <p:cNvSpPr/>
          <p:nvPr/>
        </p:nvSpPr>
        <p:spPr>
          <a:xfrm>
            <a:off x="4160520" y="2165696"/>
            <a:ext cx="4526280" cy="1383608"/>
          </a:xfrm>
          <a:prstGeom prst="roundRect">
            <a:avLst>
              <a:gd name="adj" fmla="val 528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6" name="risk card screenshot" descr="docs/screens/03_preduprezhdeni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672" y="2238848"/>
            <a:ext cx="4379976" cy="12373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Демо: прогноз от 16 сентября против факта</a:t>
            </a:r>
            <a:endParaRPr lang="en-US" sz="2600" dirty="0"/>
          </a:p>
        </p:txBody>
      </p:sp>
      <p:sp>
        <p:nvSpPr>
          <p:cNvPr id="3" name="chart screenshot frame"/>
          <p:cNvSpPr/>
          <p:nvPr/>
        </p:nvSpPr>
        <p:spPr>
          <a:xfrm>
            <a:off x="457200" y="1097844"/>
            <a:ext cx="5120640" cy="3519313"/>
          </a:xfrm>
          <a:prstGeom prst="roundRect">
            <a:avLst>
              <a:gd name="adj" fmla="val 20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chart screenshot" descr="docs/screens/04_graf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170996"/>
            <a:ext cx="4974336" cy="3373009"/>
          </a:xfrm>
          <a:prstGeom prst="rect">
            <a:avLst/>
          </a:prstGeom>
        </p:spPr>
      </p:pic>
      <p:sp>
        <p:nvSpPr>
          <p:cNvPr id="5" name="fact value 0"/>
          <p:cNvSpPr txBox="1"/>
          <p:nvPr/>
        </p:nvSpPr>
        <p:spPr>
          <a:xfrm>
            <a:off x="5852160" y="1051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30 сентября</a:t>
            </a:r>
            <a:endParaRPr lang="en-US" sz="3000" dirty="0"/>
          </a:p>
        </p:txBody>
      </p:sp>
      <p:sp>
        <p:nvSpPr>
          <p:cNvPr id="6" name="fact label 0"/>
          <p:cNvSpPr txBox="1"/>
          <p:nvPr/>
        </p:nvSpPr>
        <p:spPr>
          <a:xfrm>
            <a:off x="5852160" y="16002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дата разрыва: прогноз = факт</a:t>
            </a:r>
            <a:endParaRPr lang="en-US" sz="1200" dirty="0"/>
          </a:p>
        </p:txBody>
      </p:sp>
      <p:sp>
        <p:nvSpPr>
          <p:cNvPr id="7" name="fact value 1"/>
          <p:cNvSpPr txBox="1"/>
          <p:nvPr/>
        </p:nvSpPr>
        <p:spPr>
          <a:xfrm>
            <a:off x="585216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58%</a:t>
            </a:r>
            <a:endParaRPr lang="en-US" sz="3000" dirty="0"/>
          </a:p>
        </p:txBody>
      </p:sp>
      <p:sp>
        <p:nvSpPr>
          <p:cNvPr id="8" name="fact label 1"/>
          <p:cNvSpPr txBox="1"/>
          <p:nvPr/>
        </p:nvSpPr>
        <p:spPr>
          <a:xfrm>
            <a:off x="585216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вероятность за 14 и за 7 дней: средний риск, оранжевая карточка</a:t>
            </a:r>
            <a:endParaRPr lang="en-US" sz="1200" dirty="0"/>
          </a:p>
        </p:txBody>
      </p:sp>
      <p:sp>
        <p:nvSpPr>
          <p:cNvPr id="9" name="fact value 2"/>
          <p:cNvSpPr txBox="1"/>
          <p:nvPr/>
        </p:nvSpPr>
        <p:spPr>
          <a:xfrm>
            <a:off x="5852160" y="3429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−458 тыс. ₽</a:t>
            </a:r>
            <a:endParaRPr lang="en-US" sz="3000" dirty="0"/>
          </a:p>
        </p:txBody>
      </p:sp>
      <p:sp>
        <p:nvSpPr>
          <p:cNvPr id="10" name="fact label 2"/>
          <p:cNvSpPr txBox="1"/>
          <p:nvPr/>
        </p:nvSpPr>
        <p:spPr>
          <a:xfrm>
            <a:off x="5852160" y="3977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ожидаемый остаток; на деле −381 тыс. ₽ 30.09 и −472 тыс. ₽ 1.10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«Что если» и источники: прогноз меняется сразу</a:t>
            </a:r>
            <a:endParaRPr lang="en-US" sz="2600" dirty="0"/>
          </a:p>
        </p:txBody>
      </p:sp>
      <p:sp>
        <p:nvSpPr>
          <p:cNvPr id="3" name="scenario screenshot frame"/>
          <p:cNvSpPr/>
          <p:nvPr/>
        </p:nvSpPr>
        <p:spPr>
          <a:xfrm>
            <a:off x="686600" y="1005840"/>
            <a:ext cx="4204641" cy="27432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enario screenshot" descr="docs/screens/06_chto_es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752" y="1078992"/>
            <a:ext cx="4058337" cy="2596896"/>
          </a:xfrm>
          <a:prstGeom prst="rect">
            <a:avLst/>
          </a:prstGeom>
        </p:spPr>
      </p:pic>
      <p:sp>
        <p:nvSpPr>
          <p:cNvPr id="5" name="scenario note"/>
          <p:cNvSpPr txBox="1"/>
          <p:nvPr/>
        </p:nvSpPr>
        <p:spPr>
          <a:xfrm>
            <a:off x="457200" y="38404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Клиент заплатит на 3 недели позже → «не хватит уже 910 000 ₽ вместо 458 000 ₽». База и сценарий — на одном графике.</a:t>
            </a:r>
            <a:endParaRPr lang="en-US" sz="1200" dirty="0"/>
          </a:p>
        </p:txBody>
      </p:sp>
      <p:sp>
        <p:nvSpPr>
          <p:cNvPr id="6" name="sources screenshot frame"/>
          <p:cNvSpPr/>
          <p:nvPr/>
        </p:nvSpPr>
        <p:spPr>
          <a:xfrm>
            <a:off x="5303520" y="1117721"/>
            <a:ext cx="3383280" cy="2153679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sources screenshot" descr="docs/screens/05_istochniki.png">    </p:cNvPr>
          <p:cNvPicPr>
            <a:picLocks noChangeAspect="1"/>
          </p:cNvPicPr>
          <p:nvPr/>
        </p:nvPicPr>
        <p:blipFill>
          <a:blip r:embed="rId2"/>
          <a:srcRect l="0" r="0" t="0" b="778"/>
          <a:stretch/>
        </p:blipFill>
        <p:spPr>
          <a:xfrm>
            <a:off x="5376672" y="1190873"/>
            <a:ext cx="3236976" cy="2007375"/>
          </a:xfrm>
          <a:prstGeom prst="rect">
            <a:avLst/>
          </a:prstGeom>
        </p:spPr>
      </p:pic>
      <p:sp>
        <p:nvSpPr>
          <p:cNvPr id="8" name="sources list"/>
          <p:cNvSpPr txBox="1"/>
          <p:nvPr/>
        </p:nvSpPr>
        <p:spPr>
          <a:xfrm>
            <a:off x="5303520" y="35204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подключили источник → на экране «было → стало»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платёж фразой: «купим станок за 1,2 млн 10 ноября»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план-факт: не пришёл платёж → прогноз пересчитан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Источники данных: каждый добавляет точность</a:t>
            </a:r>
            <a:endParaRPr lang="en-US" sz="2600" dirty="0"/>
          </a:p>
        </p:txBody>
      </p:sp>
      <p:sp>
        <p:nvSpPr>
          <p:cNvPr id="3" name="source 0 circle"/>
          <p:cNvSpPr/>
          <p:nvPr/>
        </p:nvSpPr>
        <p:spPr>
          <a:xfrm>
            <a:off x="457200" y="1051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source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165860"/>
            <a:ext cx="228600" cy="228600"/>
          </a:xfrm>
          <a:prstGeom prst="rect">
            <a:avLst/>
          </a:prstGeom>
        </p:spPr>
      </p:pic>
      <p:sp>
        <p:nvSpPr>
          <p:cNvPr id="5" name="source name 0"/>
          <p:cNvSpPr txBox="1"/>
          <p:nvPr/>
        </p:nvSpPr>
        <p:spPr>
          <a:xfrm>
            <a:off x="1051560" y="10515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Банк</a:t>
            </a:r>
            <a:endParaRPr lang="en-US" sz="1300" dirty="0"/>
          </a:p>
        </p:txBody>
      </p:sp>
      <p:sp>
        <p:nvSpPr>
          <p:cNvPr id="6" name="source text 0"/>
          <p:cNvSpPr txBox="1"/>
          <p:nvPr/>
        </p:nvSpPr>
        <p:spPr>
          <a:xfrm>
            <a:off x="1051560" y="1298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выписка, регулярные платежи; графики кредитов и платёжки — на тестовых выгрузках</a:t>
            </a:r>
            <a:endParaRPr lang="en-US" sz="1100" dirty="0"/>
          </a:p>
        </p:txBody>
      </p:sp>
      <p:sp>
        <p:nvSpPr>
          <p:cNvPr id="7" name="source 1 circle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ourc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897380"/>
            <a:ext cx="228600" cy="228600"/>
          </a:xfrm>
          <a:prstGeom prst="rect">
            <a:avLst/>
          </a:prstGeom>
        </p:spPr>
      </p:pic>
      <p:sp>
        <p:nvSpPr>
          <p:cNvPr id="9" name="source name 1"/>
          <p:cNvSpPr txBox="1"/>
          <p:nvPr/>
        </p:nvSpPr>
        <p:spPr>
          <a:xfrm>
            <a:off x="1051560" y="17830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1С</a:t>
            </a:r>
            <a:endParaRPr lang="en-US" sz="1300" dirty="0"/>
          </a:p>
        </p:txBody>
      </p:sp>
      <p:sp>
        <p:nvSpPr>
          <p:cNvPr id="10" name="source text 1"/>
          <p:cNvSpPr txBox="1"/>
          <p:nvPr/>
        </p:nvSpPr>
        <p:spPr>
          <a:xfrm>
            <a:off x="1051560" y="20299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счета, договоры, зарплата — загрузка выгрузки; в демо тестовые файлы</a:t>
            </a:r>
            <a:endParaRPr lang="en-US" sz="1100" dirty="0"/>
          </a:p>
        </p:txBody>
      </p:sp>
      <p:sp>
        <p:nvSpPr>
          <p:cNvPr id="11" name="source 2 circle"/>
          <p:cNvSpPr/>
          <p:nvPr/>
        </p:nvSpPr>
        <p:spPr>
          <a:xfrm>
            <a:off x="457200" y="2514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urc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28900"/>
            <a:ext cx="228600" cy="228600"/>
          </a:xfrm>
          <a:prstGeom prst="rect">
            <a:avLst/>
          </a:prstGeom>
        </p:spPr>
      </p:pic>
      <p:sp>
        <p:nvSpPr>
          <p:cNvPr id="13" name="source name 2"/>
          <p:cNvSpPr txBox="1"/>
          <p:nvPr/>
        </p:nvSpPr>
        <p:spPr>
          <a:xfrm>
            <a:off x="1051560" y="2514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Налоговый календарь</a:t>
            </a:r>
            <a:endParaRPr lang="en-US" sz="1300" dirty="0"/>
          </a:p>
        </p:txBody>
      </p:sp>
      <p:sp>
        <p:nvSpPr>
          <p:cNvPr id="14" name="source text 2"/>
          <p:cNvSpPr txBox="1"/>
          <p:nvPr/>
        </p:nvSpPr>
        <p:spPr>
          <a:xfrm>
            <a:off x="105156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ЕНП 28-го, УСН, НДС; режим определяем по выписке</a:t>
            </a:r>
            <a:endParaRPr lang="en-US" sz="1100" dirty="0"/>
          </a:p>
        </p:txBody>
      </p:sp>
      <p:sp>
        <p:nvSpPr>
          <p:cNvPr id="15" name="source 3 circle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sourc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360420"/>
            <a:ext cx="228600" cy="228600"/>
          </a:xfrm>
          <a:prstGeom prst="rect">
            <a:avLst/>
          </a:prstGeom>
        </p:spPr>
      </p:pic>
      <p:sp>
        <p:nvSpPr>
          <p:cNvPr id="17" name="source name 3"/>
          <p:cNvSpPr txBox="1"/>
          <p:nvPr/>
        </p:nvSpPr>
        <p:spPr>
          <a:xfrm>
            <a:off x="1051560" y="32461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Открытые реестры</a:t>
            </a:r>
            <a:endParaRPr lang="en-US" sz="1300" dirty="0"/>
          </a:p>
        </p:txBody>
      </p:sp>
      <p:sp>
        <p:nvSpPr>
          <p:cNvPr id="18" name="source text 3"/>
          <p:cNvSpPr txBox="1"/>
          <p:nvPr/>
        </p:nvSpPr>
        <p:spPr>
          <a:xfrm>
            <a:off x="1051560" y="34930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долги и суды контрагента → риск задержки оплаты</a:t>
            </a:r>
            <a:endParaRPr lang="en-US" sz="1100" dirty="0"/>
          </a:p>
        </p:txBody>
      </p:sp>
      <p:sp>
        <p:nvSpPr>
          <p:cNvPr id="19" name="source 4 circle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sourc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091940"/>
            <a:ext cx="228600" cy="228600"/>
          </a:xfrm>
          <a:prstGeom prst="rect">
            <a:avLst/>
          </a:prstGeom>
        </p:spPr>
      </p:pic>
      <p:sp>
        <p:nvSpPr>
          <p:cNvPr id="21" name="source name 4"/>
          <p:cNvSpPr txBox="1"/>
          <p:nvPr/>
        </p:nvSpPr>
        <p:spPr>
          <a:xfrm>
            <a:off x="105156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Ручной ввод</a:t>
            </a:r>
            <a:endParaRPr lang="en-US" sz="1300" dirty="0"/>
          </a:p>
        </p:txBody>
      </p:sp>
      <p:sp>
        <p:nvSpPr>
          <p:cNvPr id="22" name="source text 4"/>
          <p:cNvSpPr txBox="1"/>
          <p:nvPr/>
        </p:nvSpPr>
        <p:spPr>
          <a:xfrm>
            <a:off x="1051560" y="42245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форма или обычная фраза</a:t>
            </a:r>
            <a:endParaRPr lang="en-US" sz="1100" dirty="0"/>
          </a:p>
        </p:txBody>
      </p:sp>
      <p:sp>
        <p:nvSpPr>
          <p:cNvPr id="23" name="sources chart title"/>
          <p:cNvSpPr txBox="1"/>
          <p:nvPr/>
        </p:nvSpPr>
        <p:spPr>
          <a:xfrm>
            <a:off x="4480560" y="10058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Ошибка остатка на 30 дней, млн ₽ (синтетическая демо-компания S02)</a:t>
            </a:r>
            <a:endParaRPr lang="en-US" sz="1200" dirty="0"/>
          </a:p>
        </p:txBody>
      </p:sp>
      <p:sp>
        <p:nvSpPr>
          <p:cNvPr id="24" name="sources chart label 0"/>
          <p:cNvSpPr txBox="1"/>
          <p:nvPr/>
        </p:nvSpPr>
        <p:spPr>
          <a:xfrm>
            <a:off x="4480560" y="146304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Только выписка</a:t>
            </a:r>
            <a:endParaRPr lang="en-US" sz="1000" dirty="0"/>
          </a:p>
        </p:txBody>
      </p:sp>
      <p:sp>
        <p:nvSpPr>
          <p:cNvPr id="25" name="sources chart bar 0"/>
          <p:cNvSpPr/>
          <p:nvPr/>
        </p:nvSpPr>
        <p:spPr>
          <a:xfrm>
            <a:off x="6172200" y="1556857"/>
            <a:ext cx="2011680" cy="306141"/>
          </a:xfrm>
          <a:prstGeom prst="rect">
            <a:avLst/>
          </a:prstGeom>
          <a:solidFill>
            <a:srgbClr val="7A8A80"/>
          </a:solidFill>
          <a:ln/>
        </p:spPr>
      </p:sp>
      <p:sp>
        <p:nvSpPr>
          <p:cNvPr id="26" name="sources chart value 0"/>
          <p:cNvSpPr txBox="1"/>
          <p:nvPr/>
        </p:nvSpPr>
        <p:spPr>
          <a:xfrm>
            <a:off x="8238744" y="1463040"/>
            <a:ext cx="502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1,78</a:t>
            </a:r>
            <a:endParaRPr lang="en-US" sz="1100" dirty="0"/>
          </a:p>
        </p:txBody>
      </p:sp>
      <p:sp>
        <p:nvSpPr>
          <p:cNvPr id="27" name="sources chart label 1"/>
          <p:cNvSpPr txBox="1"/>
          <p:nvPr/>
        </p:nvSpPr>
        <p:spPr>
          <a:xfrm>
            <a:off x="4480560" y="195681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+ налоговый календарь</a:t>
            </a:r>
            <a:endParaRPr lang="en-US" sz="1000" dirty="0"/>
          </a:p>
        </p:txBody>
      </p:sp>
      <p:sp>
        <p:nvSpPr>
          <p:cNvPr id="28" name="sources chart bar 1"/>
          <p:cNvSpPr/>
          <p:nvPr/>
        </p:nvSpPr>
        <p:spPr>
          <a:xfrm>
            <a:off x="6172200" y="2050633"/>
            <a:ext cx="1672633" cy="306141"/>
          </a:xfrm>
          <a:prstGeom prst="rect">
            <a:avLst/>
          </a:prstGeom>
          <a:solidFill>
            <a:srgbClr val="7A8A80"/>
          </a:solidFill>
          <a:ln/>
        </p:spPr>
      </p:sp>
      <p:sp>
        <p:nvSpPr>
          <p:cNvPr id="29" name="sources chart value 1"/>
          <p:cNvSpPr txBox="1"/>
          <p:nvPr/>
        </p:nvSpPr>
        <p:spPr>
          <a:xfrm>
            <a:off x="7899697" y="1956816"/>
            <a:ext cx="502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1,48</a:t>
            </a:r>
            <a:endParaRPr lang="en-US" sz="1100" dirty="0"/>
          </a:p>
        </p:txBody>
      </p:sp>
      <p:sp>
        <p:nvSpPr>
          <p:cNvPr id="30" name="sources chart label 2"/>
          <p:cNvSpPr txBox="1"/>
          <p:nvPr/>
        </p:nvSpPr>
        <p:spPr>
          <a:xfrm>
            <a:off x="4480560" y="245059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+ 1С</a:t>
            </a:r>
            <a:endParaRPr lang="en-US" sz="1000" dirty="0"/>
          </a:p>
        </p:txBody>
      </p:sp>
      <p:sp>
        <p:nvSpPr>
          <p:cNvPr id="31" name="sources chart bar 2"/>
          <p:cNvSpPr/>
          <p:nvPr/>
        </p:nvSpPr>
        <p:spPr>
          <a:xfrm>
            <a:off x="6172200" y="2544409"/>
            <a:ext cx="1435300" cy="306141"/>
          </a:xfrm>
          <a:prstGeom prst="rect">
            <a:avLst/>
          </a:prstGeom>
          <a:solidFill>
            <a:srgbClr val="11553F"/>
          </a:solidFill>
          <a:ln/>
        </p:spPr>
      </p:sp>
      <p:sp>
        <p:nvSpPr>
          <p:cNvPr id="32" name="sources chart value 2"/>
          <p:cNvSpPr txBox="1"/>
          <p:nvPr/>
        </p:nvSpPr>
        <p:spPr>
          <a:xfrm>
            <a:off x="7662364" y="2450592"/>
            <a:ext cx="502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1,27</a:t>
            </a:r>
            <a:endParaRPr lang="en-US" sz="1100" dirty="0"/>
          </a:p>
        </p:txBody>
      </p:sp>
      <p:sp>
        <p:nvSpPr>
          <p:cNvPr id="33" name="sources chart label 3"/>
          <p:cNvSpPr txBox="1"/>
          <p:nvPr/>
        </p:nvSpPr>
        <p:spPr>
          <a:xfrm>
            <a:off x="4480560" y="294436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+ открытые реестры</a:t>
            </a:r>
            <a:endParaRPr lang="en-US" sz="1000" dirty="0"/>
          </a:p>
        </p:txBody>
      </p:sp>
      <p:sp>
        <p:nvSpPr>
          <p:cNvPr id="34" name="sources chart bar 3"/>
          <p:cNvSpPr/>
          <p:nvPr/>
        </p:nvSpPr>
        <p:spPr>
          <a:xfrm>
            <a:off x="6172200" y="3038185"/>
            <a:ext cx="836316" cy="306141"/>
          </a:xfrm>
          <a:prstGeom prst="rect">
            <a:avLst/>
          </a:prstGeom>
          <a:solidFill>
            <a:srgbClr val="11553F"/>
          </a:solidFill>
          <a:ln/>
        </p:spPr>
      </p:sp>
      <p:sp>
        <p:nvSpPr>
          <p:cNvPr id="35" name="sources chart value 3"/>
          <p:cNvSpPr txBox="1"/>
          <p:nvPr/>
        </p:nvSpPr>
        <p:spPr>
          <a:xfrm>
            <a:off x="7063380" y="2944368"/>
            <a:ext cx="502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0,74</a:t>
            </a:r>
            <a:endParaRPr lang="en-US" sz="1100" dirty="0"/>
          </a:p>
        </p:txBody>
      </p:sp>
      <p:sp>
        <p:nvSpPr>
          <p:cNvPr id="36" name="sources chart label 4"/>
          <p:cNvSpPr txBox="1"/>
          <p:nvPr/>
        </p:nvSpPr>
        <p:spPr>
          <a:xfrm>
            <a:off x="4480560" y="343814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+ 1С + реестры</a:t>
            </a:r>
            <a:endParaRPr lang="en-US" sz="1000" dirty="0"/>
          </a:p>
        </p:txBody>
      </p:sp>
      <p:sp>
        <p:nvSpPr>
          <p:cNvPr id="37" name="sources chart bar 4"/>
          <p:cNvSpPr/>
          <p:nvPr/>
        </p:nvSpPr>
        <p:spPr>
          <a:xfrm>
            <a:off x="6172200" y="3531961"/>
            <a:ext cx="519872" cy="306141"/>
          </a:xfrm>
          <a:prstGeom prst="rect">
            <a:avLst/>
          </a:prstGeom>
          <a:solidFill>
            <a:srgbClr val="8DC63F"/>
          </a:solidFill>
          <a:ln/>
        </p:spPr>
      </p:sp>
      <p:sp>
        <p:nvSpPr>
          <p:cNvPr id="38" name="sources chart value 4"/>
          <p:cNvSpPr txBox="1"/>
          <p:nvPr/>
        </p:nvSpPr>
        <p:spPr>
          <a:xfrm>
            <a:off x="6746936" y="3438144"/>
            <a:ext cx="502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0,46</a:t>
            </a:r>
            <a:endParaRPr lang="en-US" sz="1100" dirty="0"/>
          </a:p>
        </p:txBody>
      </p:sp>
      <p:sp>
        <p:nvSpPr>
          <p:cNvPr id="39" name="sources takeaway"/>
          <p:cNvSpPr txBox="1"/>
          <p:nvPr/>
        </p:nvSpPr>
        <p:spPr>
          <a:xfrm>
            <a:off x="448056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На синтетической демо-компании S02: только по выписке разрыв не виден (вероятность 18%), с 1С и реестрами — найден (86%).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Как строим прогноз</a:t>
            </a:r>
            <a:endParaRPr lang="en-US" sz="2600" dirty="0"/>
          </a:p>
        </p:txBody>
      </p:sp>
      <p:sp>
        <p:nvSpPr>
          <p:cNvPr id="3" name="pipe card 0"/>
          <p:cNvSpPr/>
          <p:nvPr/>
        </p:nvSpPr>
        <p:spPr>
          <a:xfrm>
            <a:off x="457200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4" name="pipe 0 circle"/>
          <p:cNvSpPr/>
          <p:nvPr/>
        </p:nvSpPr>
        <p:spPr>
          <a:xfrm>
            <a:off x="950976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ipe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508760"/>
            <a:ext cx="274320" cy="274320"/>
          </a:xfrm>
          <a:prstGeom prst="rect">
            <a:avLst/>
          </a:prstGeom>
        </p:spPr>
      </p:pic>
      <p:sp>
        <p:nvSpPr>
          <p:cNvPr id="6" name="pipe title 0"/>
          <p:cNvSpPr txBox="1"/>
          <p:nvPr/>
        </p:nvSpPr>
        <p:spPr>
          <a:xfrm>
            <a:off x="548640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Выписка</a:t>
            </a:r>
            <a:endParaRPr lang="en-US" sz="1300" dirty="0"/>
          </a:p>
        </p:txBody>
      </p:sp>
      <p:sp>
        <p:nvSpPr>
          <p:cNvPr id="7" name="pipe text 0"/>
          <p:cNvSpPr txBox="1"/>
          <p:nvPr/>
        </p:nvSpPr>
        <p:spPr>
          <a:xfrm>
            <a:off x="566928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дубли, пропуски, BOM, «;», ИНН строкой</a:t>
            </a:r>
            <a:endParaRPr lang="en-US" sz="1100" dirty="0"/>
          </a:p>
        </p:txBody>
      </p:sp>
      <p:sp>
        <p:nvSpPr>
          <p:cNvPr id="8" name="pipe card 1"/>
          <p:cNvSpPr/>
          <p:nvPr/>
        </p:nvSpPr>
        <p:spPr>
          <a:xfrm>
            <a:off x="2130552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9" name="pipe 1 circle"/>
          <p:cNvSpPr/>
          <p:nvPr/>
        </p:nvSpPr>
        <p:spPr>
          <a:xfrm>
            <a:off x="2624328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pip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1508760"/>
            <a:ext cx="274320" cy="274320"/>
          </a:xfrm>
          <a:prstGeom prst="rect">
            <a:avLst/>
          </a:prstGeom>
        </p:spPr>
      </p:pic>
      <p:sp>
        <p:nvSpPr>
          <p:cNvPr id="11" name="pipe title 1"/>
          <p:cNvSpPr txBox="1"/>
          <p:nvPr/>
        </p:nvSpPr>
        <p:spPr>
          <a:xfrm>
            <a:off x="2221992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Категории</a:t>
            </a:r>
            <a:endParaRPr lang="en-US" sz="1300" dirty="0"/>
          </a:p>
        </p:txBody>
      </p:sp>
      <p:sp>
        <p:nvSpPr>
          <p:cNvPr id="12" name="pipe text 1"/>
          <p:cNvSpPr txBox="1"/>
          <p:nvPr/>
        </p:nvSpPr>
        <p:spPr>
          <a:xfrm>
            <a:off x="2240280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правила + обучение на операциях самой компании</a:t>
            </a:r>
            <a:endParaRPr lang="en-US" sz="1100" dirty="0"/>
          </a:p>
        </p:txBody>
      </p:sp>
      <p:sp>
        <p:nvSpPr>
          <p:cNvPr id="13" name="pipe card 2"/>
          <p:cNvSpPr/>
          <p:nvPr/>
        </p:nvSpPr>
        <p:spPr>
          <a:xfrm>
            <a:off x="3803904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14" name="pipe 2 circle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pip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08760"/>
            <a:ext cx="274320" cy="274320"/>
          </a:xfrm>
          <a:prstGeom prst="rect">
            <a:avLst/>
          </a:prstGeom>
        </p:spPr>
      </p:pic>
      <p:sp>
        <p:nvSpPr>
          <p:cNvPr id="16" name="pipe title 2"/>
          <p:cNvSpPr txBox="1"/>
          <p:nvPr/>
        </p:nvSpPr>
        <p:spPr>
          <a:xfrm>
            <a:off x="3895344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Регулярные платежи</a:t>
            </a:r>
            <a:endParaRPr lang="en-US" sz="1300" dirty="0"/>
          </a:p>
        </p:txBody>
      </p:sp>
      <p:sp>
        <p:nvSpPr>
          <p:cNvPr id="17" name="pipe text 2"/>
          <p:cNvSpPr txBox="1"/>
          <p:nvPr/>
        </p:nvSpPr>
        <p:spPr>
          <a:xfrm>
            <a:off x="3913632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зарплата, аренда, ЕНП 28-го, кредиты</a:t>
            </a:r>
            <a:endParaRPr lang="en-US" sz="1100" dirty="0"/>
          </a:p>
        </p:txBody>
      </p:sp>
      <p:sp>
        <p:nvSpPr>
          <p:cNvPr id="18" name="pipe card 3"/>
          <p:cNvSpPr/>
          <p:nvPr/>
        </p:nvSpPr>
        <p:spPr>
          <a:xfrm>
            <a:off x="5477256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19" name="pipe 3 circle"/>
          <p:cNvSpPr/>
          <p:nvPr/>
        </p:nvSpPr>
        <p:spPr>
          <a:xfrm>
            <a:off x="5971032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pip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2" y="1508760"/>
            <a:ext cx="274320" cy="274320"/>
          </a:xfrm>
          <a:prstGeom prst="rect">
            <a:avLst/>
          </a:prstGeom>
        </p:spPr>
      </p:pic>
      <p:sp>
        <p:nvSpPr>
          <p:cNvPr id="21" name="pipe title 3"/>
          <p:cNvSpPr txBox="1"/>
          <p:nvPr/>
        </p:nvSpPr>
        <p:spPr>
          <a:xfrm>
            <a:off x="5568696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Монте-Карло</a:t>
            </a:r>
            <a:endParaRPr lang="en-US" sz="1300" dirty="0"/>
          </a:p>
        </p:txBody>
      </p:sp>
      <p:sp>
        <p:nvSpPr>
          <p:cNvPr id="22" name="pipe text 3"/>
          <p:cNvSpPr txBox="1"/>
          <p:nvPr/>
        </p:nvSpPr>
        <p:spPr>
          <a:xfrm>
            <a:off x="5586984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2 000 вариантов будущего; остальное сжимаем к текущему остатку</a:t>
            </a:r>
            <a:endParaRPr lang="en-US" sz="1100" dirty="0"/>
          </a:p>
        </p:txBody>
      </p:sp>
      <p:sp>
        <p:nvSpPr>
          <p:cNvPr id="23" name="pipe card 4"/>
          <p:cNvSpPr/>
          <p:nvPr/>
        </p:nvSpPr>
        <p:spPr>
          <a:xfrm>
            <a:off x="7150608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24" name="pipe 4 circle"/>
          <p:cNvSpPr/>
          <p:nvPr/>
        </p:nvSpPr>
        <p:spPr>
          <a:xfrm>
            <a:off x="7644384" y="1371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pip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1544" y="1508760"/>
            <a:ext cx="274320" cy="274320"/>
          </a:xfrm>
          <a:prstGeom prst="rect">
            <a:avLst/>
          </a:prstGeom>
        </p:spPr>
      </p:pic>
      <p:sp>
        <p:nvSpPr>
          <p:cNvPr id="26" name="pipe title 4"/>
          <p:cNvSpPr txBox="1"/>
          <p:nvPr/>
        </p:nvSpPr>
        <p:spPr>
          <a:xfrm>
            <a:off x="7242048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Риски</a:t>
            </a:r>
            <a:endParaRPr lang="en-US" sz="1300" dirty="0"/>
          </a:p>
        </p:txBody>
      </p:sp>
      <p:sp>
        <p:nvSpPr>
          <p:cNvPr id="27" name="pipe text 4"/>
          <p:cNvSpPr txBox="1"/>
          <p:nvPr/>
        </p:nvSpPr>
        <p:spPr>
          <a:xfrm>
            <a:off x="7260336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дата, сумма, вероятность, причина и действия</a:t>
            </a:r>
            <a:endParaRPr lang="en-US" sz="1100" dirty="0"/>
          </a:p>
        </p:txBody>
      </p:sp>
      <p:sp>
        <p:nvSpPr>
          <p:cNvPr id="28" name="pipe result"/>
          <p:cNvSpPr txBox="1"/>
          <p:nvPr/>
        </p:nvSpPr>
        <p:spPr>
          <a:xfrm>
            <a:off x="45720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Результат: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остаток по дням — ожидаемый (P50) и возможный диапазон (P10–P90): известные платежи с датами, остальные потоки — ближе к «остаток не изменится». Два вида риска: ниже 0 ₽ и ниже комфортного минимума. Без утечки из будущего (тест) и без подгонки под компании.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Сравнение с «остаток не изменится»</a:t>
            </a:r>
            <a:endParaRPr lang="en-US" sz="2600" dirty="0"/>
          </a:p>
        </p:txBody>
      </p:sp>
      <p:sp>
        <p:nvSpPr>
          <p:cNvPr id="3" name="better value"/>
          <p:cNvSpPr txBox="1"/>
          <p:nvPr/>
        </p:nvSpPr>
        <p:spPr>
          <a:xfrm>
            <a:off x="45720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61%</a:t>
            </a:r>
            <a:endParaRPr lang="en-US" sz="4000" dirty="0"/>
          </a:p>
        </p:txBody>
      </p:sp>
      <p:sp>
        <p:nvSpPr>
          <p:cNvPr id="4" name="better label"/>
          <p:cNvSpPr txBox="1"/>
          <p:nvPr/>
        </p:nvSpPr>
        <p:spPr>
          <a:xfrm>
            <a:off x="457200" y="1737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компаний: прогноз точнее, чем «остаток не изменится»</a:t>
            </a:r>
            <a:endParaRPr lang="en-US" sz="1200" dirty="0"/>
          </a:p>
        </p:txBody>
      </p:sp>
      <p:sp>
        <p:nvSpPr>
          <p:cNvPr id="5" name="mae value"/>
          <p:cNvSpPr txBox="1"/>
          <p:nvPr/>
        </p:nvSpPr>
        <p:spPr>
          <a:xfrm>
            <a:off x="457200" y="2240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13,1%</a:t>
            </a:r>
            <a:endParaRPr lang="en-US" sz="4000" dirty="0"/>
          </a:p>
        </p:txBody>
      </p:sp>
      <p:sp>
        <p:nvSpPr>
          <p:cNvPr id="6" name="mae label"/>
          <p:cNvSpPr txBox="1"/>
          <p:nvPr/>
        </p:nvSpPr>
        <p:spPr>
          <a:xfrm>
            <a:off x="457200" y="2926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ошибка фактического остатка, медиана в долях оборота; у бейзлайна 13,3%</a:t>
            </a:r>
            <a:endParaRPr lang="en-US" sz="1200" dirty="0"/>
          </a:p>
        </p:txBody>
      </p:sp>
      <p:sp>
        <p:nvSpPr>
          <p:cNvPr id="7" name="recall value"/>
          <p:cNvSpPr txBox="1"/>
          <p:nvPr/>
        </p:nvSpPr>
        <p:spPr>
          <a:xfrm>
            <a:off x="45720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61%</a:t>
            </a:r>
            <a:endParaRPr lang="en-US" sz="4000" dirty="0"/>
          </a:p>
        </p:txBody>
      </p:sp>
      <p:sp>
        <p:nvSpPr>
          <p:cNvPr id="8" name="recall label"/>
          <p:cNvSpPr txBox="1"/>
          <p:nvPr/>
        </p:nvSpPr>
        <p:spPr>
          <a:xfrm>
            <a:off x="457200" y="4114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разрывов найдено заранее (точность 70%), в среднем за 12 дней</a:t>
            </a:r>
            <a:endParaRPr lang="en-US" sz="1200" dirty="0"/>
          </a:p>
        </p:txBody>
      </p:sp>
      <p:sp>
        <p:nvSpPr>
          <p:cNvPr id="9" name="models chart title"/>
          <p:cNvSpPr txBox="1"/>
          <p:nvPr/>
        </p:nvSpPr>
        <p:spPr>
          <a:xfrm>
            <a:off x="3383280" y="100584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Ошибка фактического остатка, % месячного оборота (меньше — лучше)</a:t>
            </a:r>
            <a:endParaRPr lang="en-US" sz="1200" dirty="0"/>
          </a:p>
        </p:txBody>
      </p:sp>
      <p:sp>
        <p:nvSpPr>
          <p:cNvPr id="10" name="models chart axis"/>
          <p:cNvSpPr/>
          <p:nvPr/>
        </p:nvSpPr>
        <p:spPr>
          <a:xfrm>
            <a:off x="3383280" y="3108960"/>
            <a:ext cx="5303520" cy="0"/>
          </a:xfrm>
          <a:prstGeom prst="line">
            <a:avLst/>
          </a:prstGeom>
          <a:noFill/>
          <a:ln w="12700">
            <a:solidFill>
              <a:srgbClr val="DFE6DA"/>
            </a:solidFill>
            <a:prstDash val="solid"/>
          </a:ln>
        </p:spPr>
      </p:sp>
      <p:sp>
        <p:nvSpPr>
          <p:cNvPr id="11" name="models chart bar 0"/>
          <p:cNvSpPr/>
          <p:nvPr/>
        </p:nvSpPr>
        <p:spPr>
          <a:xfrm>
            <a:off x="3714750" y="2232199"/>
            <a:ext cx="662940" cy="876761"/>
          </a:xfrm>
          <a:prstGeom prst="rect">
            <a:avLst/>
          </a:prstGeom>
          <a:solidFill>
            <a:srgbClr val="7A8A80"/>
          </a:solidFill>
          <a:ln/>
        </p:spPr>
      </p:sp>
      <p:sp>
        <p:nvSpPr>
          <p:cNvPr id="12" name="models chart value 0"/>
          <p:cNvSpPr txBox="1"/>
          <p:nvPr/>
        </p:nvSpPr>
        <p:spPr>
          <a:xfrm>
            <a:off x="3383280" y="1957879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13,3%</a:t>
            </a:r>
            <a:endParaRPr lang="en-US" sz="1200" dirty="0"/>
          </a:p>
        </p:txBody>
      </p:sp>
      <p:sp>
        <p:nvSpPr>
          <p:cNvPr id="13" name="models chart label 0"/>
          <p:cNvSpPr txBox="1"/>
          <p:nvPr/>
        </p:nvSpPr>
        <p:spPr>
          <a:xfrm>
            <a:off x="3410712" y="3145536"/>
            <a:ext cx="12710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Остаток не изменится</a:t>
            </a:r>
            <a:endParaRPr lang="en-US" sz="1000" dirty="0"/>
          </a:p>
        </p:txBody>
      </p:sp>
      <p:sp>
        <p:nvSpPr>
          <p:cNvPr id="14" name="models chart bar 1"/>
          <p:cNvSpPr/>
          <p:nvPr/>
        </p:nvSpPr>
        <p:spPr>
          <a:xfrm>
            <a:off x="5040630" y="1691640"/>
            <a:ext cx="662940" cy="1417320"/>
          </a:xfrm>
          <a:prstGeom prst="rect">
            <a:avLst/>
          </a:prstGeom>
          <a:solidFill>
            <a:srgbClr val="7A8A80"/>
          </a:solidFill>
          <a:ln/>
        </p:spPr>
      </p:sp>
      <p:sp>
        <p:nvSpPr>
          <p:cNvPr id="15" name="models chart value 1"/>
          <p:cNvSpPr txBox="1"/>
          <p:nvPr/>
        </p:nvSpPr>
        <p:spPr>
          <a:xfrm>
            <a:off x="4709160" y="1417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21,5%</a:t>
            </a:r>
            <a:endParaRPr lang="en-US" sz="1200" dirty="0"/>
          </a:p>
        </p:txBody>
      </p:sp>
      <p:sp>
        <p:nvSpPr>
          <p:cNvPr id="16" name="models chart label 1"/>
          <p:cNvSpPr txBox="1"/>
          <p:nvPr/>
        </p:nvSpPr>
        <p:spPr>
          <a:xfrm>
            <a:off x="4736592" y="3145536"/>
            <a:ext cx="12710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Наивная (повтор 28 дней)</a:t>
            </a:r>
            <a:endParaRPr lang="en-US" sz="1000" dirty="0"/>
          </a:p>
        </p:txBody>
      </p:sp>
      <p:sp>
        <p:nvSpPr>
          <p:cNvPr id="17" name="models chart bar 2"/>
          <p:cNvSpPr/>
          <p:nvPr/>
        </p:nvSpPr>
        <p:spPr>
          <a:xfrm>
            <a:off x="6366510" y="1856445"/>
            <a:ext cx="662940" cy="1252515"/>
          </a:xfrm>
          <a:prstGeom prst="rect">
            <a:avLst/>
          </a:prstGeom>
          <a:solidFill>
            <a:srgbClr val="7A8A80"/>
          </a:solidFill>
          <a:ln/>
        </p:spPr>
      </p:sp>
      <p:sp>
        <p:nvSpPr>
          <p:cNvPr id="18" name="models chart value 2"/>
          <p:cNvSpPr txBox="1"/>
          <p:nvPr/>
        </p:nvSpPr>
        <p:spPr>
          <a:xfrm>
            <a:off x="6035040" y="1582125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19,0%</a:t>
            </a:r>
            <a:endParaRPr lang="en-US" sz="1200" dirty="0"/>
          </a:p>
        </p:txBody>
      </p:sp>
      <p:sp>
        <p:nvSpPr>
          <p:cNvPr id="19" name="models chart label 2"/>
          <p:cNvSpPr txBox="1"/>
          <p:nvPr/>
        </p:nvSpPr>
        <p:spPr>
          <a:xfrm>
            <a:off x="6062472" y="3145536"/>
            <a:ext cx="12710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Сезонная (ETS)</a:t>
            </a:r>
            <a:endParaRPr lang="en-US" sz="1000" dirty="0"/>
          </a:p>
        </p:txBody>
      </p:sp>
      <p:sp>
        <p:nvSpPr>
          <p:cNvPr id="20" name="models chart bar 3"/>
          <p:cNvSpPr/>
          <p:nvPr/>
        </p:nvSpPr>
        <p:spPr>
          <a:xfrm>
            <a:off x="7692390" y="2245384"/>
            <a:ext cx="662940" cy="863576"/>
          </a:xfrm>
          <a:prstGeom prst="rect">
            <a:avLst/>
          </a:prstGeom>
          <a:solidFill>
            <a:srgbClr val="11553F"/>
          </a:solidFill>
          <a:ln/>
        </p:spPr>
      </p:sp>
      <p:sp>
        <p:nvSpPr>
          <p:cNvPr id="21" name="models chart value 3"/>
          <p:cNvSpPr txBox="1"/>
          <p:nvPr/>
        </p:nvSpPr>
        <p:spPr>
          <a:xfrm>
            <a:off x="7360920" y="19710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13,1%</a:t>
            </a:r>
            <a:endParaRPr lang="en-US" sz="1200" dirty="0"/>
          </a:p>
        </p:txBody>
      </p:sp>
      <p:sp>
        <p:nvSpPr>
          <p:cNvPr id="22" name="models chart label 3"/>
          <p:cNvSpPr txBox="1"/>
          <p:nvPr/>
        </p:nvSpPr>
        <p:spPr>
          <a:xfrm>
            <a:off x="7388352" y="3145536"/>
            <a:ext cx="127101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Наш прогноз</a:t>
            </a:r>
            <a:endParaRPr lang="en-US" sz="1000" dirty="0"/>
          </a:p>
        </p:txBody>
      </p:sp>
      <p:sp>
        <p:nvSpPr>
          <p:cNvPr id="23" name="method card"/>
          <p:cNvSpPr/>
          <p:nvPr/>
        </p:nvSpPr>
        <p:spPr>
          <a:xfrm>
            <a:off x="3383280" y="3611880"/>
            <a:ext cx="530352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4" name="method text"/>
          <p:cNvSpPr txBox="1"/>
          <p:nvPr/>
        </p:nvSpPr>
        <p:spPr>
          <a:xfrm>
            <a:off x="3520440" y="3657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Честно: общий WAPE на 73 отложенных компаниях — 0,263 против 0,253 у «остаток не изменится», чуть хуже; за последние 30 дней всех 150 выписок — 0,235 против 0,231. Поэтому прогноз — смесь модели с бейзлайном. Параметры подбирались только на dev, цифры — holdout, 542 прогнозов на модель.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Архитектура и безопасность</a:t>
            </a:r>
            <a:endParaRPr lang="en-US" sz="2600" dirty="0"/>
          </a:p>
        </p:txBody>
      </p:sp>
      <p:pic>
        <p:nvPicPr>
          <p:cNvPr id="3" name="architecture diagram" descr="docs/architecture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941074" cy="2743200"/>
          </a:xfrm>
          <a:prstGeom prst="rect">
            <a:avLst/>
          </a:prstGeom>
        </p:spPr>
      </p:pic>
      <p:sp>
        <p:nvSpPr>
          <p:cNvPr id="4" name="security 0 circle"/>
          <p:cNvSpPr/>
          <p:nvPr/>
        </p:nvSpPr>
        <p:spPr>
          <a:xfrm>
            <a:off x="6672594" y="10515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security 0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606" y="1147572"/>
            <a:ext cx="192024" cy="192024"/>
          </a:xfrm>
          <a:prstGeom prst="rect">
            <a:avLst/>
          </a:prstGeom>
        </p:spPr>
      </p:pic>
      <p:sp>
        <p:nvSpPr>
          <p:cNvPr id="6" name="security text 0"/>
          <p:cNvSpPr txBox="1"/>
          <p:nvPr/>
        </p:nvSpPr>
        <p:spPr>
          <a:xfrm>
            <a:off x="7175514" y="1033272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JWT, пароли PBKDF2</a:t>
            </a:r>
            <a:endParaRPr lang="en-US" sz="1100" dirty="0"/>
          </a:p>
        </p:txBody>
      </p:sp>
      <p:sp>
        <p:nvSpPr>
          <p:cNvPr id="7" name="security 1 circle"/>
          <p:cNvSpPr/>
          <p:nvPr/>
        </p:nvSpPr>
        <p:spPr>
          <a:xfrm>
            <a:off x="6672594" y="161848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ecurity 1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606" y="1714500"/>
            <a:ext cx="192024" cy="192024"/>
          </a:xfrm>
          <a:prstGeom prst="rect">
            <a:avLst/>
          </a:prstGeom>
        </p:spPr>
      </p:pic>
      <p:sp>
        <p:nvSpPr>
          <p:cNvPr id="9" name="security text 1"/>
          <p:cNvSpPr txBox="1"/>
          <p:nvPr/>
        </p:nvSpPr>
        <p:spPr>
          <a:xfrm>
            <a:off x="7175514" y="1600200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общие компании — только чтение, у гостя своя копия (тест)</a:t>
            </a:r>
            <a:endParaRPr lang="en-US" sz="1100" dirty="0"/>
          </a:p>
        </p:txBody>
      </p:sp>
      <p:sp>
        <p:nvSpPr>
          <p:cNvPr id="10" name="security 2 circle"/>
          <p:cNvSpPr/>
          <p:nvPr/>
        </p:nvSpPr>
        <p:spPr>
          <a:xfrm>
            <a:off x="6672594" y="21854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security 2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606" y="2281428"/>
            <a:ext cx="192024" cy="192024"/>
          </a:xfrm>
          <a:prstGeom prst="rect">
            <a:avLst/>
          </a:prstGeom>
        </p:spPr>
      </p:pic>
      <p:sp>
        <p:nvSpPr>
          <p:cNvPr id="12" name="security text 2"/>
          <p:cNvSpPr txBox="1"/>
          <p:nvPr/>
        </p:nvSpPr>
        <p:spPr>
          <a:xfrm>
            <a:off x="7175514" y="2167128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в логах нет ИНН, сумм, названий, токенов (тест)</a:t>
            </a:r>
            <a:endParaRPr lang="en-US" sz="1100" dirty="0"/>
          </a:p>
        </p:txBody>
      </p:sp>
      <p:sp>
        <p:nvSpPr>
          <p:cNvPr id="13" name="security 3 circle"/>
          <p:cNvSpPr/>
          <p:nvPr/>
        </p:nvSpPr>
        <p:spPr>
          <a:xfrm>
            <a:off x="6672594" y="275234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security 3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606" y="2848356"/>
            <a:ext cx="192024" cy="192024"/>
          </a:xfrm>
          <a:prstGeom prst="rect">
            <a:avLst/>
          </a:prstGeom>
        </p:spPr>
      </p:pic>
      <p:sp>
        <p:nvSpPr>
          <p:cNvPr id="15" name="security text 3"/>
          <p:cNvSpPr txBox="1"/>
          <p:nvPr/>
        </p:nvSpPr>
        <p:spPr>
          <a:xfrm>
            <a:off x="7175514" y="2734056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лимит запросов и размера файла</a:t>
            </a:r>
            <a:endParaRPr lang="en-US" sz="1100" dirty="0"/>
          </a:p>
        </p:txBody>
      </p:sp>
      <p:sp>
        <p:nvSpPr>
          <p:cNvPr id="16" name="security 4 circle"/>
          <p:cNvSpPr/>
          <p:nvPr/>
        </p:nvSpPr>
        <p:spPr>
          <a:xfrm>
            <a:off x="6672594" y="331927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security 4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8606" y="3415284"/>
            <a:ext cx="192024" cy="192024"/>
          </a:xfrm>
          <a:prstGeom prst="rect">
            <a:avLst/>
          </a:prstGeom>
        </p:spPr>
      </p:pic>
      <p:sp>
        <p:nvSpPr>
          <p:cNvPr id="18" name="security text 4"/>
          <p:cNvSpPr txBox="1"/>
          <p:nvPr/>
        </p:nvSpPr>
        <p:spPr>
          <a:xfrm>
            <a:off x="7175514" y="3300984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HTTPS: Caddy + docker compose, развёрнуто на VPS</a:t>
            </a:r>
            <a:endParaRPr lang="en-US" sz="1100" dirty="0"/>
          </a:p>
        </p:txBody>
      </p:sp>
      <p:sp>
        <p:nvSpPr>
          <p:cNvPr id="19" name="architecture caption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web (React) → API (FastAPI, SQLite, интеграции) → ядро cashflow_core (Python). Единый контракт JSON.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Сделано сверх минимума и что дальше</a:t>
            </a:r>
            <a:endParaRPr lang="en-US" sz="2600" dirty="0"/>
          </a:p>
        </p:txBody>
      </p:sp>
      <p:sp>
        <p:nvSpPr>
          <p:cNvPr id="3" name="done card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/>
        </p:spPr>
      </p:sp>
      <p:sp>
        <p:nvSpPr>
          <p:cNvPr id="4" name="done title"/>
          <p:cNvSpPr txBox="1"/>
          <p:nvPr/>
        </p:nvSpPr>
        <p:spPr>
          <a:xfrm>
            <a:off x="6858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Работает в прототипе</a:t>
            </a:r>
            <a:endParaRPr lang="en-US" sz="1600" dirty="0"/>
          </a:p>
        </p:txBody>
      </p:sp>
      <p:sp>
        <p:nvSpPr>
          <p:cNvPr id="5" name="done list"/>
          <p:cNvSpPr txBox="1"/>
          <p:nvPr/>
        </p:nvSpPr>
        <p:spPr>
          <a:xfrm>
            <a:off x="685800" y="160020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«что если»: 6 сценариев, в т.ч. потеря клиента и рост налогов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ручной ввод — формой и обычной фразой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источники — частично: налоговый календарь, банк и 1С на тестовых выгрузках; «было → стало»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план-факт с пересчётом прогноза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прогноз для 150 компаний одной командой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телефон, планшет, ноутбук</a:t>
            </a:r>
            <a:endParaRPr lang="en-US" sz="1300" dirty="0"/>
          </a:p>
        </p:txBody>
      </p:sp>
      <p:sp>
        <p:nvSpPr>
          <p:cNvPr id="6" name="mobile screenshot frame"/>
          <p:cNvSpPr/>
          <p:nvPr/>
        </p:nvSpPr>
        <p:spPr>
          <a:xfrm>
            <a:off x="4663440" y="1138827"/>
            <a:ext cx="1645920" cy="3391627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mobile screenshot" descr="docs/screens/10_telef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36592" y="1211979"/>
            <a:ext cx="1499616" cy="3245323"/>
          </a:xfrm>
          <a:prstGeom prst="rect">
            <a:avLst/>
          </a:prstGeom>
        </p:spPr>
      </p:pic>
      <p:sp>
        <p:nvSpPr>
          <p:cNvPr id="8" name="next title"/>
          <p:cNvSpPr txBox="1"/>
          <p:nvPr/>
        </p:nvSpPr>
        <p:spPr>
          <a:xfrm>
            <a:off x="6537960" y="1188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Дальше</a:t>
            </a:r>
            <a:endParaRPr lang="en-US" sz="1600" dirty="0"/>
          </a:p>
        </p:txBody>
      </p:sp>
      <p:sp>
        <p:nvSpPr>
          <p:cNvPr id="9" name="next list"/>
          <p:cNvSpPr txBox="1"/>
          <p:nvPr/>
        </p:nvSpPr>
        <p:spPr>
          <a:xfrm>
            <a:off x="6537960" y="1600200"/>
            <a:ext cx="2148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виджет в интернет-банке: выписка уже в банке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уведомление за 2 недели до разрыва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овердрафт прямо из предупреждения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настоящие API 1С и ФНС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Предупреждаем о разрыве заранее и говорим, что делать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2D6"/>
                </a:solidFill>
              </a:rPr>
              <a:t>Прогноз на 30+ дней по дням · дата, сумма и вероятность разрыва · точнее «остаток не изменится» у 61% компаний · реальный разрыв 30.09.2025 — за 14 дней</a:t>
            </a:r>
            <a:endParaRPr lang="en-US" sz="1800" dirty="0"/>
          </a:p>
        </p:txBody>
      </p:sp>
      <p:sp>
        <p:nvSpPr>
          <p:cNvPr id="4" name="qr card"/>
          <p:cNvSpPr/>
          <p:nvPr/>
        </p:nvSpPr>
        <p:spPr>
          <a:xfrm>
            <a:off x="7452360" y="3840480"/>
            <a:ext cx="114300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</p:spPr>
      </p:sp>
      <p:pic>
        <p:nvPicPr>
          <p:cNvPr id="5" name="qr prototype" descr="QR-код: https://217.144.184.234.sslip.io/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3886200"/>
            <a:ext cx="1051560" cy="1051560"/>
          </a:xfrm>
          <a:prstGeom prst="rect">
            <a:avLst/>
          </a:prstGeom>
        </p:spPr>
      </p:pic>
      <p:sp>
        <p:nvSpPr>
          <p:cNvPr id="6" name="prototype link"/>
          <p:cNvSpPr txBox="1"/>
          <p:nvPr/>
        </p:nvSpPr>
        <p:spPr>
          <a:xfrm>
            <a:off x="548640" y="4160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Прототип: </a:t>
            </a:r>
            <a:pPr indent="0" marL="0">
              <a:buNone/>
            </a:pPr>
            <a:r>
              <a:rPr lang="en-US" sz="14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https://217.144.184.234.sslip.io</a:t>
            </a:r>
            <a:pPr indent="0" marL="0">
              <a:buNone/>
            </a:pPr>
            <a:r>
              <a:rPr lang="en-US" sz="1400" dirty="0">
                <a:solidFill>
                  <a:srgbClr val="CFE2D6"/>
                </a:solidFill>
              </a:rPr>
              <a:t> → «Посмотреть демо»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енежный прогноз">
  <a:themeElements>
    <a:clrScheme name="Денежный прогноз">
      <a:dk1>
        <a:srgbClr val="13241C"/>
      </a:dk1>
      <a:lt1>
        <a:srgbClr val="FFFFFF"/>
      </a:lt1>
      <a:dk2>
        <a:srgbClr val="0B3D2E"/>
      </a:dk2>
      <a:lt2>
        <a:srgbClr val="F3F6F1"/>
      </a:lt2>
      <a:accent1>
        <a:srgbClr val="8DC63F"/>
      </a:accent1>
      <a:accent2>
        <a:srgbClr val="11553F"/>
      </a:accent2>
      <a:accent3>
        <a:srgbClr val="D23B3B"/>
      </a:accent3>
      <a:accent4>
        <a:srgbClr val="D98A00"/>
      </a:accent4>
      <a:accent5>
        <a:srgbClr val="2F6FB3"/>
      </a:accent5>
      <a:accent6>
        <a:srgbClr val="7A8A80"/>
      </a:accent6>
      <a:hlink>
        <a:srgbClr val="11553F"/>
      </a:hlink>
      <a:folHlink>
        <a:srgbClr val="6FA62A"/>
      </a:folHlink>
    </a:clrScheme>
    <a:fontScheme name="Денежный прогноз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Денежный прогноз — прогноз остатка и кассовых разрывов для малого бизнеса</dc:title>
  <dc:subject>PptxGenJS Presentation</dc:subject>
  <dc:creator>Команда chikenbyrger</dc:creator>
  <cp:lastModifiedBy>Команда chikenbyrger</cp:lastModifiedBy>
  <cp:revision>1</cp:revision>
  <dcterms:created xsi:type="dcterms:W3CDTF">2026-10-25T11:05:28Z</dcterms:created>
  <dcterms:modified xsi:type="dcterms:W3CDTF">2026-10-25T11:05:28Z</dcterms:modified>
</cp:coreProperties>
</file>