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bec267f8-b1cd-53ac-1e2f-04a4d36a238f}">
          <p14:sldIdLst>
            <p14:sldId id="256"/>
          </p14:sldIdLst>
        </p14:section>
        <p14:section name="Проблема и решение" id="{e0c4b6d5-f1d5-d586-3f78-599c6ddfa2ec}">
          <p14:sldIdLst>
            <p14:sldId id="257"/>
            <p14:sldId id="258"/>
          </p14:sldIdLst>
        </p14:section>
        <p14:section name="Демо" id="{32bb21c3-59e4-bc5f-5bf3-834d8295f06e}">
          <p14:sldIdLst>
            <p14:sldId id="259"/>
            <p14:sldId id="260"/>
          </p14:sldIdLst>
        </p14:section>
        <p14:section name="Данные и подход" id="{a297a78f-0de9-dcd0-4aff-2fc0665a8b14}">
          <p14:sldIdLst>
            <p14:sldId id="261"/>
            <p14:sldId id="262"/>
            <p14:sldId id="263"/>
          </p14:sldIdLst>
        </p14:section>
        <p14:section name="Архитектура" id="{092cd949-deb8-d262-cfa1-c9638e87662e}">
          <p14:sldIdLst>
            <p14:sldId id="264"/>
          </p14:sldIdLst>
        </p14:section>
        <p14:section name="Итоги" id="{f44422fc-64c5-da0e-e197-fe5665243350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Малый бизнес часто закрывается не из-за убытков, а потому что в нужный день на счёте нет денег. Мы сделали сервис, который заранее говорит: когда не хватит, сколько и что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Это реальная выписка из датасета организаторов. IT-компания, прибыльная. 16 сентября на счёте 2,9 миллиона. В конце месяца налог и зарплата, клиент платит только 3 октября — и 1 октября на счёте минус 471 тысяча, банк берёт проценты за овердрафт.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(15 с): Прогноз остатка по дням на 30+ дней, разрыв с датой, суммой и вероятностью — понятно человеку без финансового образования,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(45 с): «Посмотреть демо» → загружаем выписку по 16 сентября (будущего сервис не видит) → подключаем налоговый календарь → главная. Ведущий: через 14 дней, 30 сентября, может не хватить 458 тысяч, вероятность 58%, и первое действие. На самом деле 30 сентября на счёте минус 381 тысяча, 1 октября — минус 472.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(30 с): «Что если»: клиент заплатит на три недели позже — нехватка вырастает до 910 тысяч. Ведущий: источники и ручной ввод меняют прогноз сразу — экран показывает «было → стало».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Это наша синтетическая компания с известным будущим (api/reports/sources_effect.md). Честно: работает частично — налоговый календарь считается по выписке, банк и 1С — на тестовых выгрузках, реестры — демонстрационная проверка по ИНН.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Модель объяснимая: каждая сумма в причине подписана источником. Прогноз детерминированный, работает без сети, на 150 компаниях — около 25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Жюри сравнит прогноз с фактическим остатком, поэтому главный соперник — «остаток не изменится». Наш прогноз точнее у 61% компаний и по медиане ошибки, но по общему WAPE чуть хуже — это видно в core/reports/metrics.md. Разрывы: находим 61%, точность предупреждений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Три части по общему контракту. Запуск — одна команда docker compose с HTTPS; демо — в один клик, у каждого гостя своя копия компании, общие данные никто не испортит.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«Что если», план-факт и ручной ввод работают полностью; источники — частично, на тестовых выгрузках. Дальше — встроить в интернет-банк: выписка у банка уже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Спасибо!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217.144.184.234.sslip.io/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66928" cy="566928"/>
          </a:xfrm>
          <a:prstGeom prst="rect">
            <a:avLst/>
          </a:prstGeom>
        </p:spPr>
      </p:pic>
      <p:sp>
        <p:nvSpPr>
          <p:cNvPr id="3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Предупреждаем предпринимателя о кассовом разрыве заранее — и подсказываем, что сделать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на счёте −471 600 ₽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«Софт-Решения-771»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разработка ПО · реальная выписка из датасета (C124)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 сентября на счёте 2,9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29.09 — ЕНП 1,48 млн ₽, 30.09 — зарплата 2,48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клиент заплатил 1,27 млн ₽ только 3 октября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 — овердрафт и проценты банку</a:t>
            </a:r>
            <a:endParaRPr lang="en-US" sz="1400" dirty="0"/>
          </a:p>
        </p:txBody>
      </p:sp>
      <p:sp>
        <p:nvSpPr>
          <p:cNvPr id="9" name="user circle"/>
          <p:cNvSpPr/>
          <p:nvPr/>
        </p:nvSpPr>
        <p:spPr>
          <a:xfrm>
            <a:off x="484632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25880"/>
            <a:ext cx="274320" cy="274320"/>
          </a:xfrm>
          <a:prstGeom prst="rect">
            <a:avLst/>
          </a:prstGeom>
        </p:spPr>
      </p:pic>
      <p:sp>
        <p:nvSpPr>
          <p:cNvPr id="11" name="user title"/>
          <p:cNvSpPr txBox="1"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Наш пользователь</a:t>
            </a:r>
            <a:endParaRPr lang="en-US" sz="1500" dirty="0"/>
          </a:p>
        </p:txBody>
      </p:sp>
      <p:sp>
        <p:nvSpPr>
          <p:cNvPr id="12" name="user text"/>
          <p:cNvSpPr txBox="1"/>
          <p:nvPr/>
        </p:nvSpPr>
        <p:spPr>
          <a:xfrm>
            <a:off x="5532120" y="1508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владелец малого бизнеса без финансового образования: ему нужна не таблица, а ответ — хватит денег или нет</a:t>
            </a:r>
            <a:endParaRPr lang="en-US" sz="1200" dirty="0"/>
          </a:p>
        </p:txBody>
      </p:sp>
      <p:sp>
        <p:nvSpPr>
          <p:cNvPr id="13" name="pain circle"/>
          <p:cNvSpPr/>
          <p:nvPr/>
        </p:nvSpPr>
        <p:spPr>
          <a:xfrm>
            <a:off x="4846320" y="2606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p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43200"/>
            <a:ext cx="274320" cy="274320"/>
          </a:xfrm>
          <a:prstGeom prst="rect">
            <a:avLst/>
          </a:prstGeom>
        </p:spPr>
      </p:pic>
      <p:sp>
        <p:nvSpPr>
          <p:cNvPr id="15" name="pain title"/>
          <p:cNvSpPr txBox="1"/>
          <p:nvPr/>
        </p:nvSpPr>
        <p:spPr>
          <a:xfrm>
            <a:off x="55321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Почему так бывает</a:t>
            </a:r>
            <a:endParaRPr lang="en-US" sz="1500" dirty="0"/>
          </a:p>
        </p:txBody>
      </p:sp>
      <p:sp>
        <p:nvSpPr>
          <p:cNvPr id="16" name="pain text"/>
          <p:cNvSpPr txBox="1"/>
          <p:nvPr/>
        </p:nvSpPr>
        <p:spPr>
          <a:xfrm>
            <a:off x="553212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зарплата, налоги и аренда — по графику, а клиенты платят, когда платят; выписка показывает прошлое, а разрыв видно только в день платежа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цветная карточка риска и одна фраза: «через 14 дней, 30 сентября, дефицит составит 458 000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конкретное действие: «попросите ООО «Ритейл-381» оплатить до 30 сентября»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65696"/>
            <a:ext cx="4526280" cy="1383608"/>
          </a:xfrm>
          <a:prstGeom prst="roundRect">
            <a:avLst>
              <a:gd name="adj" fmla="val 528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docs/screens/03_preduprezhden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38848"/>
            <a:ext cx="4379976" cy="12373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прогноз от 16 сентября против факта</a:t>
            </a:r>
            <a:endParaRPr lang="en-US" sz="2600" dirty="0"/>
          </a:p>
        </p:txBody>
      </p:sp>
      <p:sp>
        <p:nvSpPr>
          <p:cNvPr id="3" name="chart screenshot frame"/>
          <p:cNvSpPr/>
          <p:nvPr/>
        </p:nvSpPr>
        <p:spPr>
          <a:xfrm>
            <a:off x="457200" y="1097844"/>
            <a:ext cx="5120640" cy="3519313"/>
          </a:xfrm>
          <a:prstGeom prst="roundRect">
            <a:avLst>
              <a:gd name="adj" fmla="val 20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chart screenshot" descr="docs/screens/04_graf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70996"/>
            <a:ext cx="4974336" cy="3373009"/>
          </a:xfrm>
          <a:prstGeom prst="rect">
            <a:avLst/>
          </a:prstGeom>
        </p:spPr>
      </p:pic>
      <p:sp>
        <p:nvSpPr>
          <p:cNvPr id="5" name="fact value 0"/>
          <p:cNvSpPr txBox="1"/>
          <p:nvPr/>
        </p:nvSpPr>
        <p:spPr>
          <a:xfrm>
            <a:off x="5852160" y="1051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30 сентября</a:t>
            </a:r>
            <a:endParaRPr lang="en-US" sz="3000" dirty="0"/>
          </a:p>
        </p:txBody>
      </p:sp>
      <p:sp>
        <p:nvSpPr>
          <p:cNvPr id="6" name="fact label 0"/>
          <p:cNvSpPr txBox="1"/>
          <p:nvPr/>
        </p:nvSpPr>
        <p:spPr>
          <a:xfrm>
            <a:off x="5852160" y="1600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дата разрыва: прогноз = факт</a:t>
            </a:r>
            <a:endParaRPr lang="en-US" sz="1200" dirty="0"/>
          </a:p>
        </p:txBody>
      </p:sp>
      <p:sp>
        <p:nvSpPr>
          <p:cNvPr id="7" name="fact value 1"/>
          <p:cNvSpPr txBox="1"/>
          <p:nvPr/>
        </p:nvSpPr>
        <p:spPr>
          <a:xfrm>
            <a:off x="585216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58%</a:t>
            </a:r>
            <a:endParaRPr lang="en-US" sz="3000" dirty="0"/>
          </a:p>
        </p:txBody>
      </p:sp>
      <p:sp>
        <p:nvSpPr>
          <p:cNvPr id="8" name="fact label 1"/>
          <p:cNvSpPr txBox="1"/>
          <p:nvPr/>
        </p:nvSpPr>
        <p:spPr>
          <a:xfrm>
            <a:off x="58521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вероятность за 14 и за 7 дней: средний риск, оранжевая карточка</a:t>
            </a:r>
            <a:endParaRPr lang="en-US" sz="1200" dirty="0"/>
          </a:p>
        </p:txBody>
      </p:sp>
      <p:sp>
        <p:nvSpPr>
          <p:cNvPr id="9" name="fact value 2"/>
          <p:cNvSpPr txBox="1"/>
          <p:nvPr/>
        </p:nvSpPr>
        <p:spPr>
          <a:xfrm>
            <a:off x="58521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−458 тыс. ₽</a:t>
            </a:r>
            <a:endParaRPr lang="en-US" sz="3000" dirty="0"/>
          </a:p>
        </p:txBody>
      </p:sp>
      <p:sp>
        <p:nvSpPr>
          <p:cNvPr id="10" name="fact label 2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остаток; на деле −381 тыс. ₽ 30.09 и −472 тыс. ₽ 1.10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 и источники: прогноз меняется сразу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686600" y="1005840"/>
            <a:ext cx="4204641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docs/screens/06_chto_e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52" y="1078992"/>
            <a:ext cx="4058337" cy="2596896"/>
          </a:xfrm>
          <a:prstGeom prst="rect">
            <a:avLst/>
          </a:prstGeom>
        </p:spPr>
      </p:pic>
      <p:sp>
        <p:nvSpPr>
          <p:cNvPr id="5" name="scenario note"/>
          <p:cNvSpPr txBox="1"/>
          <p:nvPr/>
        </p:nvSpPr>
        <p:spPr>
          <a:xfrm>
            <a:off x="457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Клиент заплатит на 3 недели позже → «не хватит уже 910 000 ₽ вместо 458 000 ₽». База и сценарий — на одном графике.</a:t>
            </a:r>
            <a:endParaRPr lang="en-US" sz="1200" dirty="0"/>
          </a:p>
        </p:txBody>
      </p:sp>
      <p:sp>
        <p:nvSpPr>
          <p:cNvPr id="6" name="sources screenshot frame"/>
          <p:cNvSpPr/>
          <p:nvPr/>
        </p:nvSpPr>
        <p:spPr>
          <a:xfrm>
            <a:off x="5303520" y="1117721"/>
            <a:ext cx="3383280" cy="2153679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sources screenshot" descr="docs/screens/05_istochniki.png">    </p:cNvPr>
          <p:cNvPicPr>
            <a:picLocks noChangeAspect="1"/>
          </p:cNvPicPr>
          <p:nvPr/>
        </p:nvPicPr>
        <p:blipFill>
          <a:blip r:embed="rId2"/>
          <a:srcRect l="0" r="0" t="0" b="778"/>
          <a:stretch/>
        </p:blipFill>
        <p:spPr>
          <a:xfrm>
            <a:off x="5376672" y="1190873"/>
            <a:ext cx="3236976" cy="2007375"/>
          </a:xfrm>
          <a:prstGeom prst="rect">
            <a:avLst/>
          </a:prstGeom>
        </p:spPr>
      </p:pic>
      <p:sp>
        <p:nvSpPr>
          <p:cNvPr id="8" name="sources list"/>
          <p:cNvSpPr txBox="1"/>
          <p:nvPr/>
        </p:nvSpPr>
        <p:spPr>
          <a:xfrm>
            <a:off x="5303520" y="35204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подключили источник → на экране «было → стало»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платёж фразой: «купим станок за 1,2 млн 10 ноября»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план-факт: не пришёл платёж → прогноз пересчитан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выписка, регулярные платежи; графики кредитов и платёжки — на тестовых выгрузках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зарплата — загрузка выгрузки; в демо тестовые файлы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определяем по выписке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 и суды контрагента → риск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форма или обычная фраза</a:t>
            </a:r>
            <a:endParaRPr lang="en-US" sz="1100" dirty="0"/>
          </a:p>
        </p:txBody>
      </p:sp>
      <p:sp>
        <p:nvSpPr>
          <p:cNvPr id="23" name="sources chart title"/>
          <p:cNvSpPr txBox="1"/>
          <p:nvPr/>
        </p:nvSpPr>
        <p:spPr>
          <a:xfrm>
            <a:off x="4480560" y="10058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Ошибка остатка на 30 дней, млн ₽ (синтетическая демо-компания S02)</a:t>
            </a:r>
            <a:endParaRPr lang="en-US" sz="1200" dirty="0"/>
          </a:p>
        </p:txBody>
      </p:sp>
      <p:sp>
        <p:nvSpPr>
          <p:cNvPr id="24" name="sources chart label 0"/>
          <p:cNvSpPr txBox="1"/>
          <p:nvPr/>
        </p:nvSpPr>
        <p:spPr>
          <a:xfrm>
            <a:off x="4480560" y="146304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Только выписка</a:t>
            </a:r>
            <a:endParaRPr lang="en-US" sz="1000" dirty="0"/>
          </a:p>
        </p:txBody>
      </p:sp>
      <p:sp>
        <p:nvSpPr>
          <p:cNvPr id="25" name="sources chart bar 0"/>
          <p:cNvSpPr/>
          <p:nvPr/>
        </p:nvSpPr>
        <p:spPr>
          <a:xfrm>
            <a:off x="6172200" y="1556857"/>
            <a:ext cx="2011680" cy="30614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26" name="sources chart value 0"/>
          <p:cNvSpPr txBox="1"/>
          <p:nvPr/>
        </p:nvSpPr>
        <p:spPr>
          <a:xfrm>
            <a:off x="8238744" y="1463040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1,78</a:t>
            </a:r>
            <a:endParaRPr lang="en-US" sz="1100" dirty="0"/>
          </a:p>
        </p:txBody>
      </p:sp>
      <p:sp>
        <p:nvSpPr>
          <p:cNvPr id="27" name="sources chart label 1"/>
          <p:cNvSpPr txBox="1"/>
          <p:nvPr/>
        </p:nvSpPr>
        <p:spPr>
          <a:xfrm>
            <a:off x="4480560" y="195681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налоговый календарь</a:t>
            </a:r>
            <a:endParaRPr lang="en-US" sz="1000" dirty="0"/>
          </a:p>
        </p:txBody>
      </p:sp>
      <p:sp>
        <p:nvSpPr>
          <p:cNvPr id="28" name="sources chart bar 1"/>
          <p:cNvSpPr/>
          <p:nvPr/>
        </p:nvSpPr>
        <p:spPr>
          <a:xfrm>
            <a:off x="6172200" y="2050633"/>
            <a:ext cx="1672633" cy="30614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29" name="sources chart value 1"/>
          <p:cNvSpPr txBox="1"/>
          <p:nvPr/>
        </p:nvSpPr>
        <p:spPr>
          <a:xfrm>
            <a:off x="7899697" y="1956816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1,48</a:t>
            </a:r>
            <a:endParaRPr lang="en-US" sz="1100" dirty="0"/>
          </a:p>
        </p:txBody>
      </p:sp>
      <p:sp>
        <p:nvSpPr>
          <p:cNvPr id="30" name="sources chart label 2"/>
          <p:cNvSpPr txBox="1"/>
          <p:nvPr/>
        </p:nvSpPr>
        <p:spPr>
          <a:xfrm>
            <a:off x="4480560" y="2450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+ 1С</a:t>
            </a:r>
            <a:endParaRPr lang="en-US" sz="1000" dirty="0"/>
          </a:p>
        </p:txBody>
      </p:sp>
      <p:sp>
        <p:nvSpPr>
          <p:cNvPr id="31" name="sources chart bar 2"/>
          <p:cNvSpPr/>
          <p:nvPr/>
        </p:nvSpPr>
        <p:spPr>
          <a:xfrm>
            <a:off x="6172200" y="2544409"/>
            <a:ext cx="1435300" cy="306141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32" name="sources chart value 2"/>
          <p:cNvSpPr txBox="1"/>
          <p:nvPr/>
        </p:nvSpPr>
        <p:spPr>
          <a:xfrm>
            <a:off x="7662364" y="2450592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1,27</a:t>
            </a:r>
            <a:endParaRPr lang="en-US" sz="1100" dirty="0"/>
          </a:p>
        </p:txBody>
      </p:sp>
      <p:sp>
        <p:nvSpPr>
          <p:cNvPr id="33" name="sources chart label 3"/>
          <p:cNvSpPr txBox="1"/>
          <p:nvPr/>
        </p:nvSpPr>
        <p:spPr>
          <a:xfrm>
            <a:off x="4480560" y="294436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открытые реестры</a:t>
            </a:r>
            <a:endParaRPr lang="en-US" sz="1000" dirty="0"/>
          </a:p>
        </p:txBody>
      </p:sp>
      <p:sp>
        <p:nvSpPr>
          <p:cNvPr id="34" name="sources chart bar 3"/>
          <p:cNvSpPr/>
          <p:nvPr/>
        </p:nvSpPr>
        <p:spPr>
          <a:xfrm>
            <a:off x="6172200" y="3038185"/>
            <a:ext cx="836316" cy="306141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35" name="sources chart value 3"/>
          <p:cNvSpPr txBox="1"/>
          <p:nvPr/>
        </p:nvSpPr>
        <p:spPr>
          <a:xfrm>
            <a:off x="7063380" y="2944368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0,74</a:t>
            </a:r>
            <a:endParaRPr lang="en-US" sz="1100" dirty="0"/>
          </a:p>
        </p:txBody>
      </p:sp>
      <p:sp>
        <p:nvSpPr>
          <p:cNvPr id="36" name="sources chart label 4"/>
          <p:cNvSpPr txBox="1"/>
          <p:nvPr/>
        </p:nvSpPr>
        <p:spPr>
          <a:xfrm>
            <a:off x="4480560" y="3438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+ 1С + реестры</a:t>
            </a:r>
            <a:endParaRPr lang="en-US" sz="1000" dirty="0"/>
          </a:p>
        </p:txBody>
      </p:sp>
      <p:sp>
        <p:nvSpPr>
          <p:cNvPr id="37" name="sources chart bar 4"/>
          <p:cNvSpPr/>
          <p:nvPr/>
        </p:nvSpPr>
        <p:spPr>
          <a:xfrm>
            <a:off x="6172200" y="3531961"/>
            <a:ext cx="519872" cy="306141"/>
          </a:xfrm>
          <a:prstGeom prst="rect">
            <a:avLst/>
          </a:prstGeom>
          <a:solidFill>
            <a:srgbClr val="8DC63F"/>
          </a:solidFill>
          <a:ln/>
        </p:spPr>
      </p:sp>
      <p:sp>
        <p:nvSpPr>
          <p:cNvPr id="38" name="sources chart value 4"/>
          <p:cNvSpPr txBox="1"/>
          <p:nvPr/>
        </p:nvSpPr>
        <p:spPr>
          <a:xfrm>
            <a:off x="6746936" y="3438144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0,46</a:t>
            </a:r>
            <a:endParaRPr lang="en-US" sz="1100" dirty="0"/>
          </a:p>
        </p:txBody>
      </p:sp>
      <p:sp>
        <p:nvSpPr>
          <p:cNvPr id="39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 синтетической демо-компании S02: только по выписке разрыв не виден (вероятность 18%), с 1С и реестрами — найден (86%).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дубли, пропуски, BOM, «;»,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обучение на операциях самой компании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 28-го, кредиты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будущего; остальное сжимаем к текущему остатку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(P10–P90): известные платежи с датами, остальные потоки — ближе к «остаток не изменится». Два вида риска: ниже 0 ₽ и ниже комфортного минимума. Без утечки из будущего (тест) и без подгонки под компании.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Сравнение с «остаток не изменится»</a:t>
            </a:r>
            <a:endParaRPr lang="en-US" sz="2600" dirty="0"/>
          </a:p>
        </p:txBody>
      </p:sp>
      <p:sp>
        <p:nvSpPr>
          <p:cNvPr id="3" name="better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61%</a:t>
            </a:r>
            <a:endParaRPr lang="en-US" sz="4000" dirty="0"/>
          </a:p>
        </p:txBody>
      </p:sp>
      <p:sp>
        <p:nvSpPr>
          <p:cNvPr id="4" name="better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компаний: прогноз точнее, чем «остаток не изменится»</a:t>
            </a:r>
            <a:endParaRPr lang="en-US" sz="1200" dirty="0"/>
          </a:p>
        </p:txBody>
      </p:sp>
      <p:sp>
        <p:nvSpPr>
          <p:cNvPr id="5" name="ma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13,1%</a:t>
            </a:r>
            <a:endParaRPr lang="en-US" sz="4000" dirty="0"/>
          </a:p>
        </p:txBody>
      </p:sp>
      <p:sp>
        <p:nvSpPr>
          <p:cNvPr id="6" name="ma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фактического остатка, медиана в долях оборота; у бейзлайна 13,3%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61%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разрывов найдено заранее (точность 70%), в среднем за 12 дней</a:t>
            </a:r>
            <a:endParaRPr lang="en-US" sz="1200" dirty="0"/>
          </a:p>
        </p:txBody>
      </p:sp>
      <p:sp>
        <p:nvSpPr>
          <p:cNvPr id="9" name="models chart title"/>
          <p:cNvSpPr txBox="1"/>
          <p:nvPr/>
        </p:nvSpPr>
        <p:spPr>
          <a:xfrm>
            <a:off x="3383280" y="10058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Ошибка фактического остатка, % месячного оборота (меньше — лучше)</a:t>
            </a:r>
            <a:endParaRPr lang="en-US" sz="1200" dirty="0"/>
          </a:p>
        </p:txBody>
      </p:sp>
      <p:sp>
        <p:nvSpPr>
          <p:cNvPr id="10" name="models chart axis"/>
          <p:cNvSpPr/>
          <p:nvPr/>
        </p:nvSpPr>
        <p:spPr>
          <a:xfrm>
            <a:off x="3383280" y="3108960"/>
            <a:ext cx="5303520" cy="0"/>
          </a:xfrm>
          <a:prstGeom prst="line">
            <a:avLst/>
          </a:prstGeom>
          <a:noFill/>
          <a:ln w="12700">
            <a:solidFill>
              <a:srgbClr val="DFE6DA"/>
            </a:solidFill>
            <a:prstDash val="solid"/>
          </a:ln>
        </p:spPr>
      </p:sp>
      <p:sp>
        <p:nvSpPr>
          <p:cNvPr id="11" name="models chart bar 0"/>
          <p:cNvSpPr/>
          <p:nvPr/>
        </p:nvSpPr>
        <p:spPr>
          <a:xfrm>
            <a:off x="3714750" y="2232199"/>
            <a:ext cx="662940" cy="87676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2" name="models chart value 0"/>
          <p:cNvSpPr txBox="1"/>
          <p:nvPr/>
        </p:nvSpPr>
        <p:spPr>
          <a:xfrm>
            <a:off x="3383280" y="195787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13,3%</a:t>
            </a:r>
            <a:endParaRPr lang="en-US" sz="1200" dirty="0"/>
          </a:p>
        </p:txBody>
      </p:sp>
      <p:sp>
        <p:nvSpPr>
          <p:cNvPr id="13" name="models chart label 0"/>
          <p:cNvSpPr txBox="1"/>
          <p:nvPr/>
        </p:nvSpPr>
        <p:spPr>
          <a:xfrm>
            <a:off x="341071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Остаток не изменится</a:t>
            </a:r>
            <a:endParaRPr lang="en-US" sz="1000" dirty="0"/>
          </a:p>
        </p:txBody>
      </p:sp>
      <p:sp>
        <p:nvSpPr>
          <p:cNvPr id="14" name="models chart bar 1"/>
          <p:cNvSpPr/>
          <p:nvPr/>
        </p:nvSpPr>
        <p:spPr>
          <a:xfrm>
            <a:off x="5040630" y="1691640"/>
            <a:ext cx="662940" cy="1417320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5" name="models chart value 1"/>
          <p:cNvSpPr txBox="1"/>
          <p:nvPr/>
        </p:nvSpPr>
        <p:spPr>
          <a:xfrm>
            <a:off x="4709160" y="1417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21,5%</a:t>
            </a:r>
            <a:endParaRPr lang="en-US" sz="1200" dirty="0"/>
          </a:p>
        </p:txBody>
      </p:sp>
      <p:sp>
        <p:nvSpPr>
          <p:cNvPr id="16" name="models chart label 1"/>
          <p:cNvSpPr txBox="1"/>
          <p:nvPr/>
        </p:nvSpPr>
        <p:spPr>
          <a:xfrm>
            <a:off x="473659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Наивная (повтор 28 дней)</a:t>
            </a:r>
            <a:endParaRPr lang="en-US" sz="1000" dirty="0"/>
          </a:p>
        </p:txBody>
      </p:sp>
      <p:sp>
        <p:nvSpPr>
          <p:cNvPr id="17" name="models chart bar 2"/>
          <p:cNvSpPr/>
          <p:nvPr/>
        </p:nvSpPr>
        <p:spPr>
          <a:xfrm>
            <a:off x="6366510" y="1856445"/>
            <a:ext cx="662940" cy="1252515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8" name="models chart value 2"/>
          <p:cNvSpPr txBox="1"/>
          <p:nvPr/>
        </p:nvSpPr>
        <p:spPr>
          <a:xfrm>
            <a:off x="6035040" y="1582125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19,0%</a:t>
            </a:r>
            <a:endParaRPr lang="en-US" sz="1200" dirty="0"/>
          </a:p>
        </p:txBody>
      </p:sp>
      <p:sp>
        <p:nvSpPr>
          <p:cNvPr id="19" name="models chart label 2"/>
          <p:cNvSpPr txBox="1"/>
          <p:nvPr/>
        </p:nvSpPr>
        <p:spPr>
          <a:xfrm>
            <a:off x="606247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Сезонная (ETS)</a:t>
            </a:r>
            <a:endParaRPr lang="en-US" sz="1000" dirty="0"/>
          </a:p>
        </p:txBody>
      </p:sp>
      <p:sp>
        <p:nvSpPr>
          <p:cNvPr id="20" name="models chart bar 3"/>
          <p:cNvSpPr/>
          <p:nvPr/>
        </p:nvSpPr>
        <p:spPr>
          <a:xfrm>
            <a:off x="7692390" y="2245384"/>
            <a:ext cx="662940" cy="863576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21" name="models chart value 3"/>
          <p:cNvSpPr txBox="1"/>
          <p:nvPr/>
        </p:nvSpPr>
        <p:spPr>
          <a:xfrm>
            <a:off x="7360920" y="1971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13,1%</a:t>
            </a:r>
            <a:endParaRPr lang="en-US" sz="1200" dirty="0"/>
          </a:p>
        </p:txBody>
      </p:sp>
      <p:sp>
        <p:nvSpPr>
          <p:cNvPr id="22" name="models chart label 3"/>
          <p:cNvSpPr txBox="1"/>
          <p:nvPr/>
        </p:nvSpPr>
        <p:spPr>
          <a:xfrm>
            <a:off x="738835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Наш прогноз</a:t>
            </a:r>
            <a:endParaRPr lang="en-US" sz="1000" dirty="0"/>
          </a:p>
        </p:txBody>
      </p:sp>
      <p:sp>
        <p:nvSpPr>
          <p:cNvPr id="23" name="method card"/>
          <p:cNvSpPr/>
          <p:nvPr/>
        </p:nvSpPr>
        <p:spPr>
          <a:xfrm>
            <a:off x="3383280" y="3611880"/>
            <a:ext cx="5303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4" name="method text"/>
          <p:cNvSpPr txBox="1"/>
          <p:nvPr/>
        </p:nvSpPr>
        <p:spPr>
          <a:xfrm>
            <a:off x="352044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Честно: общий WAPE на 73 отложенных компаниях — 0,263 против 0,253 у «остаток не изменится», чуть хуже; за последние 30 дней всех 150 выписок — 0,235 против 0,231. Поэтому прогноз — смесь модели с бейзлайном. Параметры подбирались только на dev, цифры — holdout, 542 прогнозов на модель.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и безопасность</a:t>
            </a:r>
            <a:endParaRPr lang="en-US" sz="2600" dirty="0"/>
          </a:p>
        </p:txBody>
      </p:sp>
      <p:pic>
        <p:nvPicPr>
          <p:cNvPr id="3" name="architecture diagram" descr="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941074" cy="2743200"/>
          </a:xfrm>
          <a:prstGeom prst="rect">
            <a:avLst/>
          </a:prstGeom>
        </p:spPr>
      </p:pic>
      <p:sp>
        <p:nvSpPr>
          <p:cNvPr id="4" name="security 0 circle"/>
          <p:cNvSpPr/>
          <p:nvPr/>
        </p:nvSpPr>
        <p:spPr>
          <a:xfrm>
            <a:off x="6672594" y="10515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06" y="1147572"/>
            <a:ext cx="192024" cy="192024"/>
          </a:xfrm>
          <a:prstGeom prst="rect">
            <a:avLst/>
          </a:prstGeom>
        </p:spPr>
      </p:pic>
      <p:sp>
        <p:nvSpPr>
          <p:cNvPr id="6" name="security text 0"/>
          <p:cNvSpPr txBox="1"/>
          <p:nvPr/>
        </p:nvSpPr>
        <p:spPr>
          <a:xfrm>
            <a:off x="7175514" y="1033272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JWT, пароли PBKDF2</a:t>
            </a:r>
            <a:endParaRPr lang="en-US" sz="1100" dirty="0"/>
          </a:p>
        </p:txBody>
      </p:sp>
      <p:sp>
        <p:nvSpPr>
          <p:cNvPr id="7" name="security 1 circle"/>
          <p:cNvSpPr/>
          <p:nvPr/>
        </p:nvSpPr>
        <p:spPr>
          <a:xfrm>
            <a:off x="6672594" y="16184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ecurity 1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606" y="1714500"/>
            <a:ext cx="192024" cy="192024"/>
          </a:xfrm>
          <a:prstGeom prst="rect">
            <a:avLst/>
          </a:prstGeom>
        </p:spPr>
      </p:pic>
      <p:sp>
        <p:nvSpPr>
          <p:cNvPr id="9" name="security text 1"/>
          <p:cNvSpPr txBox="1"/>
          <p:nvPr/>
        </p:nvSpPr>
        <p:spPr>
          <a:xfrm>
            <a:off x="7175514" y="1600200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общие компании — только чтение, у гостя своя копия (тест)</a:t>
            </a:r>
            <a:endParaRPr lang="en-US" sz="1100" dirty="0"/>
          </a:p>
        </p:txBody>
      </p:sp>
      <p:sp>
        <p:nvSpPr>
          <p:cNvPr id="10" name="security 2 circle"/>
          <p:cNvSpPr/>
          <p:nvPr/>
        </p:nvSpPr>
        <p:spPr>
          <a:xfrm>
            <a:off x="6672594" y="21854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ecurity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6" y="2281428"/>
            <a:ext cx="192024" cy="192024"/>
          </a:xfrm>
          <a:prstGeom prst="rect">
            <a:avLst/>
          </a:prstGeom>
        </p:spPr>
      </p:pic>
      <p:sp>
        <p:nvSpPr>
          <p:cNvPr id="12" name="security text 2"/>
          <p:cNvSpPr txBox="1"/>
          <p:nvPr/>
        </p:nvSpPr>
        <p:spPr>
          <a:xfrm>
            <a:off x="7175514" y="2167128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логах нет ИНН, сумм, названий, токенов (тест)</a:t>
            </a:r>
            <a:endParaRPr lang="en-US" sz="1100" dirty="0"/>
          </a:p>
        </p:txBody>
      </p:sp>
      <p:sp>
        <p:nvSpPr>
          <p:cNvPr id="13" name="security 3 circle"/>
          <p:cNvSpPr/>
          <p:nvPr/>
        </p:nvSpPr>
        <p:spPr>
          <a:xfrm>
            <a:off x="6672594" y="27523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ecurity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606" y="2848356"/>
            <a:ext cx="192024" cy="192024"/>
          </a:xfrm>
          <a:prstGeom prst="rect">
            <a:avLst/>
          </a:prstGeom>
        </p:spPr>
      </p:pic>
      <p:sp>
        <p:nvSpPr>
          <p:cNvPr id="15" name="security text 3"/>
          <p:cNvSpPr txBox="1"/>
          <p:nvPr/>
        </p:nvSpPr>
        <p:spPr>
          <a:xfrm>
            <a:off x="7175514" y="2734056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лимит запросов и размера файла</a:t>
            </a:r>
            <a:endParaRPr lang="en-US" sz="1100" dirty="0"/>
          </a:p>
        </p:txBody>
      </p:sp>
      <p:sp>
        <p:nvSpPr>
          <p:cNvPr id="16" name="security 4 circle"/>
          <p:cNvSpPr/>
          <p:nvPr/>
        </p:nvSpPr>
        <p:spPr>
          <a:xfrm>
            <a:off x="6672594" y="33192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8606" y="3415284"/>
            <a:ext cx="192024" cy="192024"/>
          </a:xfrm>
          <a:prstGeom prst="rect">
            <a:avLst/>
          </a:prstGeom>
        </p:spPr>
      </p:pic>
      <p:sp>
        <p:nvSpPr>
          <p:cNvPr id="18" name="security text 4"/>
          <p:cNvSpPr txBox="1"/>
          <p:nvPr/>
        </p:nvSpPr>
        <p:spPr>
          <a:xfrm>
            <a:off x="7175514" y="3300984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HTTPS: Caddy + docker compose, развёрнуто на VPS</a:t>
            </a:r>
            <a:endParaRPr lang="en-US" sz="1100" dirty="0"/>
          </a:p>
        </p:txBody>
      </p:sp>
      <p:sp>
        <p:nvSpPr>
          <p:cNvPr id="19" name="architecture caption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SQLite, интеграции) → ядро cashflow_core (Python). Единый контракт JSON.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Сделано сверх минимума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Работает в прототипе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если»: 6 сценариев, в т.ч. потеря клиента и рост налогов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— формой и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источники — частично: налоговый календарь, банк и 1С на тестовых выгрузках; «было → стало»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прогноз для 150 компаний одной командой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телефон, планшет, ноутбук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docs/screens/10_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настоящие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Прогноз на 30+ дней по дням · дата, сумма и вероятность разрыва · точнее «остаток не изменится» у 61% компаний · реальный разрыв 30.09.2025 — за 14 дней</a:t>
            </a:r>
            <a:endParaRPr lang="en-US" sz="1800" dirty="0"/>
          </a:p>
        </p:txBody>
      </p:sp>
      <p:sp>
        <p:nvSpPr>
          <p:cNvPr id="4" name="qr card"/>
          <p:cNvSpPr/>
          <p:nvPr/>
        </p:nvSpPr>
        <p:spPr>
          <a:xfrm>
            <a:off x="7452360" y="3840480"/>
            <a:ext cx="11430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</p:spPr>
      </p:sp>
      <p:pic>
        <p:nvPicPr>
          <p:cNvPr id="5" name="qr prototype" descr="QR-код: https://217.144.184.234.sslip.io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886200"/>
            <a:ext cx="1051560" cy="1051560"/>
          </a:xfrm>
          <a:prstGeom prst="rect">
            <a:avLst/>
          </a:prstGeom>
        </p:spPr>
      </p:pic>
      <p:sp>
        <p:nvSpPr>
          <p:cNvPr id="6" name="prototype link"/>
          <p:cNvSpPr txBox="1"/>
          <p:nvPr/>
        </p:nvSpPr>
        <p:spPr>
          <a:xfrm>
            <a:off x="548640" y="4160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Прототип: </a:t>
            </a:r>
            <a:pPr indent="0" marL="0">
              <a:buNone/>
            </a:pPr>
            <a:r>
              <a:rPr lang="en-US" sz="14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https://217.144.184.234.sslip.io</a:t>
            </a:r>
            <a:pPr indent="0" marL="0">
              <a:buNone/>
            </a:pPr>
            <a:r>
              <a:rPr lang="en-US" sz="1400" dirty="0">
                <a:solidFill>
                  <a:srgbClr val="CFE2D6"/>
                </a:solidFill>
              </a:rPr>
              <a:t> → «Посмотреть демо»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«Денежный прогноз»</dc:creator>
  <cp:lastModifiedBy>Команда «Денежный прогноз»</cp:lastModifiedBy>
  <cp:revision>1</cp:revision>
  <dcterms:created xsi:type="dcterms:W3CDTF">2026-10-25T09:07:20Z</dcterms:created>
  <dcterms:modified xsi:type="dcterms:W3CDTF">2026-10-25T09:07:20Z</dcterms:modified>
</cp:coreProperties>
</file>